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5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468880"/>
            <a:ext cx="11112703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2A2530"/>
                </a:solidFill>
                <a:latin typeface="Calibri"/>
              </a:rPr>
              <a:t>Talk Title Goes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3657600"/>
            <a:ext cx="111127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75707A"/>
                </a:solidFill>
                <a:latin typeface="Calibri"/>
              </a:rPr>
              <a:t>A concise subtitle or one-line abstract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4343399"/>
            <a:ext cx="1463040" cy="36576"/>
          </a:xfrm>
          <a:prstGeom prst="rect">
            <a:avLst/>
          </a:prstGeom>
          <a:solidFill>
            <a:srgbClr val="6F5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4526279"/>
            <a:ext cx="111127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A2530"/>
                </a:solidFill>
                <a:latin typeface="Calibri"/>
              </a:rPr>
              <a:t>Speaker Name  ·  Affiliation  ·  Month Year</a:t>
            </a:r>
          </a:p>
        </p:txBody>
      </p:sp>
      <p:pic>
        <p:nvPicPr>
          <p:cNvPr id="7" name="Picture 6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8" name="Picture 7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9" name="Picture 8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75707A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5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64327" y="1554480"/>
            <a:ext cx="1463040" cy="36576"/>
          </a:xfrm>
          <a:prstGeom prst="rect">
            <a:avLst/>
          </a:prstGeom>
          <a:solidFill>
            <a:srgbClr val="6F5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874520"/>
            <a:ext cx="12191695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1" i="0">
                <a:solidFill>
                  <a:srgbClr val="2A2530"/>
                </a:solidFill>
                <a:latin typeface="Calibri"/>
              </a:rPr>
              <a:t>Talk Title Goes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24612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 i="1">
                <a:solidFill>
                  <a:srgbClr val="75707A"/>
                </a:solidFill>
                <a:latin typeface="Calibri"/>
              </a:rPr>
              <a:t>A concise subtitle or one-line abstract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6052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0">
                <a:solidFill>
                  <a:srgbClr val="2A2530"/>
                </a:solidFill>
                <a:latin typeface="Calibri"/>
              </a:rPr>
              <a:t>Speaker Name  ·  Affiliation  ·  Month Year</a:t>
            </a:r>
          </a:p>
        </p:txBody>
      </p:sp>
      <p:pic>
        <p:nvPicPr>
          <p:cNvPr id="7" name="Picture 6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8" name="Picture 7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9" name="Picture 8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75707A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5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468880"/>
            <a:ext cx="182880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200" b="1" i="0">
                <a:solidFill>
                  <a:srgbClr val="6F5C7A"/>
                </a:solidFill>
                <a:latin typeface="Calibri"/>
              </a:rPr>
              <a:t>01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679192" y="2743200"/>
            <a:ext cx="0" cy="914400"/>
          </a:xfrm>
          <a:prstGeom prst="line">
            <a:avLst/>
          </a:prstGeom>
          <a:ln w="12700">
            <a:solidFill>
              <a:srgbClr val="6F5C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953512" y="2468880"/>
            <a:ext cx="822960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1" i="0">
                <a:solidFill>
                  <a:srgbClr val="2A2530"/>
                </a:solidFill>
                <a:latin typeface="Calibri"/>
              </a:rPr>
              <a:t>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53512" y="40233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75707A"/>
                </a:solidFill>
                <a:latin typeface="Calibri"/>
              </a:rPr>
              <a:t>An optional one-line summary of this section</a:t>
            </a:r>
          </a:p>
        </p:txBody>
      </p:sp>
      <p:pic>
        <p:nvPicPr>
          <p:cNvPr id="7" name="Picture 6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8" name="Picture 7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9" name="Picture 8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75707A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5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457200"/>
            <a:ext cx="1111270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2A2530"/>
                </a:solidFill>
                <a:latin typeface="Calibri"/>
              </a:rPr>
              <a:t>Slide title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" y="1051560"/>
            <a:ext cx="548640" cy="36576"/>
          </a:xfrm>
          <a:prstGeom prst="rect">
            <a:avLst/>
          </a:prstGeom>
          <a:solidFill>
            <a:srgbClr val="6F5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234440"/>
            <a:ext cx="11112703" cy="4983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>
                <a:solidFill>
                  <a:srgbClr val="2A2530"/>
                </a:solidFill>
                <a:latin typeface="Calibri"/>
              </a:rPr>
              <a:t>•  Lead with the main claim — what the reader should take away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2A2530"/>
                </a:solidFill>
                <a:latin typeface="Calibri"/>
              </a:rPr>
              <a:t>•  Supporting detail, ideally a number or concrete example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2A2530"/>
                </a:solidFill>
                <a:latin typeface="Calibri"/>
              </a:rPr>
              <a:t>•  A second supporting point that extends the first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2A2530"/>
                </a:solidFill>
                <a:latin typeface="Calibri"/>
              </a:rPr>
              <a:t>•  A fourth line of room — the body has the full slide to breathe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2A2530"/>
                </a:solidFill>
                <a:latin typeface="Calibri"/>
              </a:rPr>
              <a:t>•  Edge case, caveat, or the one thing not to forget</a:t>
            </a:r>
          </a:p>
        </p:txBody>
      </p:sp>
      <p:pic>
        <p:nvPicPr>
          <p:cNvPr id="6" name="Picture 5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7" name="Picture 6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8" name="Picture 7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75707A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5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457200"/>
            <a:ext cx="1111270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2A2530"/>
                </a:solidFill>
                <a:latin typeface="Calibri"/>
              </a:rPr>
              <a:t>Headline finding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" y="1051560"/>
            <a:ext cx="548640" cy="36576"/>
          </a:xfrm>
          <a:prstGeom prst="rect">
            <a:avLst/>
          </a:prstGeom>
          <a:solidFill>
            <a:srgbClr val="6F5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234440"/>
            <a:ext cx="11112703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>
                <a:solidFill>
                  <a:srgbClr val="2A2530"/>
                </a:solidFill>
                <a:latin typeface="Calibri"/>
              </a:rPr>
              <a:t>•  Set up the experimental finding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2A2530"/>
                </a:solidFill>
                <a:latin typeface="Calibri"/>
              </a:rPr>
              <a:t>•  Note the comparison or baseline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2A2530"/>
                </a:solidFill>
                <a:latin typeface="Calibri"/>
              </a:rPr>
              <a:t>•  Quantify the effect with one or two numbers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" y="3977640"/>
            <a:ext cx="11112703" cy="1097280"/>
          </a:xfrm>
          <a:prstGeom prst="rect">
            <a:avLst/>
          </a:prstGeom>
          <a:solidFill>
            <a:srgbClr val="ECE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7512" y="3977640"/>
            <a:ext cx="73152" cy="1097280"/>
          </a:xfrm>
          <a:prstGeom prst="rect">
            <a:avLst/>
          </a:prstGeom>
          <a:solidFill>
            <a:srgbClr val="6F5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4142232"/>
            <a:ext cx="107469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F5C7A"/>
                </a:solidFill>
                <a:latin typeface="Calibri"/>
              </a:rPr>
              <a:t>TAKEAWAY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4434840"/>
            <a:ext cx="107469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2A2530"/>
                </a:solidFill>
                <a:latin typeface="Calibri"/>
              </a:rPr>
              <a:t>Across 5 benchmarks, our 1.3B model matches a 7B baseline at 18% of the inference cost.</a:t>
            </a:r>
          </a:p>
        </p:txBody>
      </p:sp>
      <p:pic>
        <p:nvPicPr>
          <p:cNvPr id="10" name="Picture 9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11" name="Picture 10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12" name="Picture 11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75707A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5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457200"/>
            <a:ext cx="1111270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2A2530"/>
                </a:solidFill>
                <a:latin typeface="Calibri"/>
              </a:rPr>
              <a:t>Three contributions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" y="1051560"/>
            <a:ext cx="548640" cy="36576"/>
          </a:xfrm>
          <a:prstGeom prst="rect">
            <a:avLst/>
          </a:prstGeom>
          <a:solidFill>
            <a:srgbClr val="6F5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371600"/>
            <a:ext cx="8229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6F5C7A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7632" y="1371600"/>
            <a:ext cx="10152583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0">
                <a:solidFill>
                  <a:srgbClr val="2A2530"/>
                </a:solidFill>
                <a:latin typeface="Calibri"/>
              </a:rPr>
              <a:t>Lead with the main claim worth remembering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67512" y="2148840"/>
            <a:ext cx="11112703" cy="0"/>
          </a:xfrm>
          <a:prstGeom prst="line">
            <a:avLst/>
          </a:prstGeom>
          <a:ln w="6350">
            <a:solidFill>
              <a:srgbClr val="B4A0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67512" y="2148840"/>
            <a:ext cx="8229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6F5C7A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148840"/>
            <a:ext cx="10152583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0">
                <a:solidFill>
                  <a:srgbClr val="2A2530"/>
                </a:solidFill>
                <a:latin typeface="Calibri"/>
              </a:rPr>
              <a:t>Supporting detail, a number or concrete example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67512" y="2926080"/>
            <a:ext cx="11112703" cy="0"/>
          </a:xfrm>
          <a:prstGeom prst="line">
            <a:avLst/>
          </a:prstGeom>
          <a:ln w="6350">
            <a:solidFill>
              <a:srgbClr val="B4A0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67512" y="2926080"/>
            <a:ext cx="8229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6F5C7A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7632" y="2926080"/>
            <a:ext cx="10152583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0">
                <a:solidFill>
                  <a:srgbClr val="2A2530"/>
                </a:solidFill>
                <a:latin typeface="Calibri"/>
              </a:rPr>
              <a:t>A second supporting point that extends the first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67512" y="3703320"/>
            <a:ext cx="11112703" cy="0"/>
          </a:xfrm>
          <a:prstGeom prst="line">
            <a:avLst/>
          </a:prstGeom>
          <a:ln w="6350">
            <a:solidFill>
              <a:srgbClr val="B4A0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15" name="Picture 14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16" name="Picture 15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75707A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5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457200"/>
            <a:ext cx="1111270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2A2530"/>
                </a:solidFill>
                <a:latin typeface="Calibri"/>
              </a:rPr>
              <a:t>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" y="1051560"/>
            <a:ext cx="548640" cy="36576"/>
          </a:xfrm>
          <a:prstGeom prst="rect">
            <a:avLst/>
          </a:prstGeom>
          <a:solidFill>
            <a:srgbClr val="6F5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7512" y="1234440"/>
            <a:ext cx="5350611" cy="4983480"/>
          </a:xfrm>
          <a:prstGeom prst="rect">
            <a:avLst/>
          </a:prstGeom>
          <a:noFill/>
          <a:ln w="6350">
            <a:solidFill>
              <a:srgbClr val="B4A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234440"/>
            <a:ext cx="5350611" cy="4983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 i="1">
                <a:solidFill>
                  <a:srgbClr val="75707A"/>
                </a:solidFill>
                <a:latin typeface="Calibri"/>
              </a:rPr>
              <a:t>[ figure / diagram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29603" y="1234440"/>
            <a:ext cx="535061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A2530"/>
                </a:solidFill>
                <a:latin typeface="Calibri"/>
              </a:rPr>
              <a:t>Caption or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29603" y="1965960"/>
            <a:ext cx="5350611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>
                <a:solidFill>
                  <a:srgbClr val="2A2530"/>
                </a:solidFill>
                <a:latin typeface="Calibri"/>
              </a:rPr>
              <a:t>•  Explain what the figure shows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2A2530"/>
                </a:solidFill>
                <a:latin typeface="Calibri"/>
              </a:rPr>
              <a:t>•  Call out the one feature worth noting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2A2530"/>
                </a:solidFill>
                <a:latin typeface="Calibri"/>
              </a:rPr>
              <a:t>•  Relate it back to the slide's main point</a:t>
            </a:r>
          </a:p>
        </p:txBody>
      </p:sp>
      <p:pic>
        <p:nvPicPr>
          <p:cNvPr id="9" name="Picture 8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10" name="Picture 9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11" name="Picture 10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75707A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5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1280160"/>
            <a:ext cx="1463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1" i="0">
                <a:solidFill>
                  <a:srgbClr val="B4A0B8"/>
                </a:solidFill>
                <a:latin typeface="Georgia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2468880"/>
            <a:ext cx="11021263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1">
                <a:solidFill>
                  <a:srgbClr val="2A2530"/>
                </a:solidFill>
                <a:latin typeface="Georgia"/>
              </a:rPr>
              <a:t>Smaller models, trained on the right data, beat larger ones.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4754880"/>
            <a:ext cx="457200" cy="36576"/>
          </a:xfrm>
          <a:prstGeom prst="rect">
            <a:avLst/>
          </a:prstGeom>
          <a:solidFill>
            <a:srgbClr val="6F5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4892040"/>
            <a:ext cx="1102126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F5C7A"/>
                </a:solidFill>
                <a:latin typeface="Calibri"/>
              </a:rPr>
              <a:t>MAIN RESULT</a:t>
            </a:r>
          </a:p>
        </p:txBody>
      </p:sp>
      <p:pic>
        <p:nvPicPr>
          <p:cNvPr id="7" name="Picture 6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8" name="Picture 7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9" name="Picture 8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75707A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5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72887" y="1645920"/>
            <a:ext cx="1645920" cy="36576"/>
          </a:xfrm>
          <a:prstGeom prst="rect">
            <a:avLst/>
          </a:prstGeom>
          <a:solidFill>
            <a:srgbClr val="6F5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965960"/>
            <a:ext cx="12191695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600" b="1" i="0">
                <a:solidFill>
                  <a:srgbClr val="2A2530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56616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 i="1">
                <a:solidFill>
                  <a:srgbClr val="75707A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251960"/>
            <a:ext cx="121916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0">
                <a:solidFill>
                  <a:srgbClr val="2A2530"/>
                </a:solidFill>
                <a:latin typeface="Calibri"/>
              </a:rPr>
              <a:t>speaker@kcl.ac.uk  ·  kclnlp.github.io</a:t>
            </a:r>
          </a:p>
        </p:txBody>
      </p:sp>
      <p:pic>
        <p:nvPicPr>
          <p:cNvPr id="7" name="Picture 6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8" name="Picture 7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9" name="Picture 8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75707A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