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Relationship Id="rId4" Type="http://schemas.openxmlformats.org/officeDocument/2006/relationships/image" Target="../media/image3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Relationship Id="rId4" Type="http://schemas.openxmlformats.org/officeDocument/2006/relationships/image" Target="../media/image3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Relationship Id="rId4" Type="http://schemas.openxmlformats.org/officeDocument/2006/relationships/image" Target="../media/image3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Relationship Id="rId4" Type="http://schemas.openxmlformats.org/officeDocument/2006/relationships/image" Target="../media/image3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Relationship Id="rId4" Type="http://schemas.openxmlformats.org/officeDocument/2006/relationships/image" Target="../media/image3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Relationship Id="rId4" Type="http://schemas.openxmlformats.org/officeDocument/2006/relationships/image" Target="../media/image3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Relationship Id="rId4" Type="http://schemas.openxmlformats.org/officeDocument/2006/relationships/image" Target="../media/image3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Relationship Id="rId4" Type="http://schemas.openxmlformats.org/officeDocument/2006/relationships/image" Target="../media/image3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Relationship Id="rId4" Type="http://schemas.openxmlformats.org/officeDocument/2006/relationships/image" Target="../media/image3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5C726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67512" y="2468880"/>
            <a:ext cx="11112703" cy="1280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4400" b="1" i="0">
                <a:solidFill>
                  <a:srgbClr val="2B2F2A"/>
                </a:solidFill>
                <a:latin typeface="Calibri"/>
              </a:rPr>
              <a:t>Talk Title Goes Here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67512" y="3657600"/>
            <a:ext cx="11112703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200" b="0" i="1">
                <a:solidFill>
                  <a:srgbClr val="6F756C"/>
                </a:solidFill>
                <a:latin typeface="Calibri"/>
              </a:rPr>
              <a:t>A concise subtitle or one-line abstract</a:t>
            </a:r>
          </a:p>
        </p:txBody>
      </p:sp>
      <p:sp>
        <p:nvSpPr>
          <p:cNvPr id="5" name="Rectangle 4"/>
          <p:cNvSpPr/>
          <p:nvPr/>
        </p:nvSpPr>
        <p:spPr>
          <a:xfrm>
            <a:off x="667512" y="4343399"/>
            <a:ext cx="1463040" cy="36576"/>
          </a:xfrm>
          <a:prstGeom prst="rect">
            <a:avLst/>
          </a:prstGeom>
          <a:solidFill>
            <a:srgbClr val="5C726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67512" y="4526279"/>
            <a:ext cx="11112703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600" b="0" i="0">
                <a:solidFill>
                  <a:srgbClr val="2B2F2A"/>
                </a:solidFill>
                <a:latin typeface="Calibri"/>
              </a:rPr>
              <a:t>Speaker Name  ·  Affiliation  ·  Month Year</a:t>
            </a:r>
          </a:p>
        </p:txBody>
      </p:sp>
      <p:pic>
        <p:nvPicPr>
          <p:cNvPr id="7" name="Picture 6" descr="KC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366258" y="6423660"/>
            <a:ext cx="655162" cy="411480"/>
          </a:xfrm>
          <a:prstGeom prst="rect">
            <a:avLst/>
          </a:prstGeom>
        </p:spPr>
      </p:pic>
      <p:pic>
        <p:nvPicPr>
          <p:cNvPr id="8" name="Picture 7" descr="KCLNLP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186011" y="6423660"/>
            <a:ext cx="452782" cy="411480"/>
          </a:xfrm>
          <a:prstGeom prst="rect">
            <a:avLst/>
          </a:prstGeom>
        </p:spPr>
      </p:pic>
      <p:pic>
        <p:nvPicPr>
          <p:cNvPr id="9" name="Picture 8" descr="Alan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803384" y="6423660"/>
            <a:ext cx="976831" cy="411480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667512" y="6400800"/>
            <a:ext cx="8515866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400" b="0" i="1">
                <a:solidFill>
                  <a:srgbClr val="6F756C"/>
                </a:solidFill>
                <a:latin typeface="Calibri"/>
              </a:rPr>
              <a:t>King's College London  ·  KCL NLP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5C726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364327" y="1554480"/>
            <a:ext cx="1463040" cy="36576"/>
          </a:xfrm>
          <a:prstGeom prst="rect">
            <a:avLst/>
          </a:prstGeom>
          <a:solidFill>
            <a:srgbClr val="5C726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0" y="1874520"/>
            <a:ext cx="12191695" cy="12801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4400" b="1" i="0">
                <a:solidFill>
                  <a:srgbClr val="2B2F2A"/>
                </a:solidFill>
                <a:latin typeface="Calibri"/>
              </a:rPr>
              <a:t>Talk Title Goes Here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0" y="3246120"/>
            <a:ext cx="12191695" cy="6400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2200" b="0" i="1">
                <a:solidFill>
                  <a:srgbClr val="6F756C"/>
                </a:solidFill>
                <a:latin typeface="Calibri"/>
              </a:rPr>
              <a:t>A concise subtitle or one-line abstract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0" y="4160520"/>
            <a:ext cx="12191695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600" b="0" i="0">
                <a:solidFill>
                  <a:srgbClr val="2B2F2A"/>
                </a:solidFill>
                <a:latin typeface="Calibri"/>
              </a:rPr>
              <a:t>Speaker Name  ·  Affiliation  ·  Month Year</a:t>
            </a:r>
          </a:p>
        </p:txBody>
      </p:sp>
      <p:pic>
        <p:nvPicPr>
          <p:cNvPr id="7" name="Picture 6" descr="KC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366258" y="6423660"/>
            <a:ext cx="655162" cy="411480"/>
          </a:xfrm>
          <a:prstGeom prst="rect">
            <a:avLst/>
          </a:prstGeom>
        </p:spPr>
      </p:pic>
      <p:pic>
        <p:nvPicPr>
          <p:cNvPr id="8" name="Picture 7" descr="KCLNLP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186011" y="6423660"/>
            <a:ext cx="452782" cy="411480"/>
          </a:xfrm>
          <a:prstGeom prst="rect">
            <a:avLst/>
          </a:prstGeom>
        </p:spPr>
      </p:pic>
      <p:pic>
        <p:nvPicPr>
          <p:cNvPr id="9" name="Picture 8" descr="Alan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803384" y="6423660"/>
            <a:ext cx="976831" cy="411480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667512" y="6400800"/>
            <a:ext cx="8515866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400" b="0" i="1">
                <a:solidFill>
                  <a:srgbClr val="6F756C"/>
                </a:solidFill>
                <a:latin typeface="Calibri"/>
              </a:rPr>
              <a:t>King's College London  ·  KCL NLP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5C726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67512" y="2468880"/>
            <a:ext cx="1828800" cy="146304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7200" b="1" i="0">
                <a:solidFill>
                  <a:srgbClr val="5C7261"/>
                </a:solidFill>
                <a:latin typeface="Calibri"/>
              </a:rPr>
              <a:t>01</a:t>
            </a:r>
          </a:p>
        </p:txBody>
      </p:sp>
      <p:cxnSp>
        <p:nvCxnSpPr>
          <p:cNvPr id="4" name="Connector 3"/>
          <p:cNvCxnSpPr/>
          <p:nvPr/>
        </p:nvCxnSpPr>
        <p:spPr>
          <a:xfrm>
            <a:off x="2679192" y="2743200"/>
            <a:ext cx="0" cy="914400"/>
          </a:xfrm>
          <a:prstGeom prst="line">
            <a:avLst/>
          </a:prstGeom>
          <a:ln w="12700">
            <a:solidFill>
              <a:srgbClr val="5C726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2953512" y="2468880"/>
            <a:ext cx="8229600" cy="146304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3600" b="1" i="0">
                <a:solidFill>
                  <a:srgbClr val="2B2F2A"/>
                </a:solidFill>
                <a:latin typeface="Calibri"/>
              </a:rPr>
              <a:t>Background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2953512" y="4023360"/>
            <a:ext cx="82296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800" b="0" i="1">
                <a:solidFill>
                  <a:srgbClr val="6F756C"/>
                </a:solidFill>
                <a:latin typeface="Calibri"/>
              </a:rPr>
              <a:t>An optional one-line summary of this section</a:t>
            </a:r>
          </a:p>
        </p:txBody>
      </p:sp>
      <p:pic>
        <p:nvPicPr>
          <p:cNvPr id="7" name="Picture 6" descr="KC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366258" y="6423660"/>
            <a:ext cx="655162" cy="411480"/>
          </a:xfrm>
          <a:prstGeom prst="rect">
            <a:avLst/>
          </a:prstGeom>
        </p:spPr>
      </p:pic>
      <p:pic>
        <p:nvPicPr>
          <p:cNvPr id="8" name="Picture 7" descr="KCLNLP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186011" y="6423660"/>
            <a:ext cx="452782" cy="411480"/>
          </a:xfrm>
          <a:prstGeom prst="rect">
            <a:avLst/>
          </a:prstGeom>
        </p:spPr>
      </p:pic>
      <p:pic>
        <p:nvPicPr>
          <p:cNvPr id="9" name="Picture 8" descr="Alan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803384" y="6423660"/>
            <a:ext cx="976831" cy="411480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667512" y="6400800"/>
            <a:ext cx="8515866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400" b="0" i="1">
                <a:solidFill>
                  <a:srgbClr val="6F756C"/>
                </a:solidFill>
                <a:latin typeface="Calibri"/>
              </a:rPr>
              <a:t>King's College London  ·  KCL NLP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5C726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67512" y="457200"/>
            <a:ext cx="11112703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600" b="1" i="0">
                <a:solidFill>
                  <a:srgbClr val="2B2F2A"/>
                </a:solidFill>
                <a:latin typeface="Calibri"/>
              </a:rPr>
              <a:t>Slide title</a:t>
            </a:r>
          </a:p>
        </p:txBody>
      </p:sp>
      <p:sp>
        <p:nvSpPr>
          <p:cNvPr id="4" name="Rectangle 3"/>
          <p:cNvSpPr/>
          <p:nvPr/>
        </p:nvSpPr>
        <p:spPr>
          <a:xfrm>
            <a:off x="667512" y="1051560"/>
            <a:ext cx="548640" cy="36576"/>
          </a:xfrm>
          <a:prstGeom prst="rect">
            <a:avLst/>
          </a:prstGeom>
          <a:solidFill>
            <a:srgbClr val="5C726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67512" y="1234440"/>
            <a:ext cx="11112703" cy="4983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1000"/>
              </a:spcAft>
            </a:pPr>
            <a:r>
              <a:rPr sz="2000">
                <a:solidFill>
                  <a:srgbClr val="2B2F2A"/>
                </a:solidFill>
                <a:latin typeface="Calibri"/>
              </a:rPr>
              <a:t>•  Lead with the main claim — what the reader should take away</a:t>
            </a:r>
          </a:p>
          <a:p>
            <a:pPr algn="l">
              <a:spcAft>
                <a:spcPts val="1000"/>
              </a:spcAft>
            </a:pPr>
            <a:r>
              <a:rPr sz="2000">
                <a:solidFill>
                  <a:srgbClr val="2B2F2A"/>
                </a:solidFill>
                <a:latin typeface="Calibri"/>
              </a:rPr>
              <a:t>•  Supporting detail, ideally a number or concrete example</a:t>
            </a:r>
          </a:p>
          <a:p>
            <a:pPr algn="l">
              <a:spcAft>
                <a:spcPts val="1000"/>
              </a:spcAft>
            </a:pPr>
            <a:r>
              <a:rPr sz="2000">
                <a:solidFill>
                  <a:srgbClr val="2B2F2A"/>
                </a:solidFill>
                <a:latin typeface="Calibri"/>
              </a:rPr>
              <a:t>•  A second supporting point that extends the first</a:t>
            </a:r>
          </a:p>
          <a:p>
            <a:pPr algn="l">
              <a:spcAft>
                <a:spcPts val="1000"/>
              </a:spcAft>
            </a:pPr>
            <a:r>
              <a:rPr sz="2000">
                <a:solidFill>
                  <a:srgbClr val="2B2F2A"/>
                </a:solidFill>
                <a:latin typeface="Calibri"/>
              </a:rPr>
              <a:t>•  A fourth line of room — the body has the full slide to breathe</a:t>
            </a:r>
          </a:p>
          <a:p>
            <a:pPr algn="l">
              <a:spcAft>
                <a:spcPts val="1000"/>
              </a:spcAft>
            </a:pPr>
            <a:r>
              <a:rPr sz="2000">
                <a:solidFill>
                  <a:srgbClr val="2B2F2A"/>
                </a:solidFill>
                <a:latin typeface="Calibri"/>
              </a:rPr>
              <a:t>•  Edge case, caveat, or the one thing not to forget</a:t>
            </a:r>
          </a:p>
        </p:txBody>
      </p:sp>
      <p:pic>
        <p:nvPicPr>
          <p:cNvPr id="6" name="Picture 5" descr="KC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366258" y="6423660"/>
            <a:ext cx="655162" cy="411480"/>
          </a:xfrm>
          <a:prstGeom prst="rect">
            <a:avLst/>
          </a:prstGeom>
        </p:spPr>
      </p:pic>
      <p:pic>
        <p:nvPicPr>
          <p:cNvPr id="7" name="Picture 6" descr="KCLNLP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186011" y="6423660"/>
            <a:ext cx="452782" cy="411480"/>
          </a:xfrm>
          <a:prstGeom prst="rect">
            <a:avLst/>
          </a:prstGeom>
        </p:spPr>
      </p:pic>
      <p:pic>
        <p:nvPicPr>
          <p:cNvPr id="8" name="Picture 7" descr="Alan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803384" y="6423660"/>
            <a:ext cx="976831" cy="411480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667512" y="6400800"/>
            <a:ext cx="8515866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400" b="0" i="1">
                <a:solidFill>
                  <a:srgbClr val="6F756C"/>
                </a:solidFill>
                <a:latin typeface="Calibri"/>
              </a:rPr>
              <a:t>King's College London  ·  KCL NLP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5C726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67512" y="457200"/>
            <a:ext cx="11112703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600" b="1" i="0">
                <a:solidFill>
                  <a:srgbClr val="2B2F2A"/>
                </a:solidFill>
                <a:latin typeface="Calibri"/>
              </a:rPr>
              <a:t>Headline finding</a:t>
            </a:r>
          </a:p>
        </p:txBody>
      </p:sp>
      <p:sp>
        <p:nvSpPr>
          <p:cNvPr id="4" name="Rectangle 3"/>
          <p:cNvSpPr/>
          <p:nvPr/>
        </p:nvSpPr>
        <p:spPr>
          <a:xfrm>
            <a:off x="667512" y="1051560"/>
            <a:ext cx="548640" cy="36576"/>
          </a:xfrm>
          <a:prstGeom prst="rect">
            <a:avLst/>
          </a:prstGeom>
          <a:solidFill>
            <a:srgbClr val="5C726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67512" y="1234440"/>
            <a:ext cx="11112703" cy="23774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1000"/>
              </a:spcAft>
            </a:pPr>
            <a:r>
              <a:rPr sz="2000">
                <a:solidFill>
                  <a:srgbClr val="2B2F2A"/>
                </a:solidFill>
                <a:latin typeface="Calibri"/>
              </a:rPr>
              <a:t>•  Set up the experimental finding</a:t>
            </a:r>
          </a:p>
          <a:p>
            <a:pPr algn="l">
              <a:spcAft>
                <a:spcPts val="1000"/>
              </a:spcAft>
            </a:pPr>
            <a:r>
              <a:rPr sz="2000">
                <a:solidFill>
                  <a:srgbClr val="2B2F2A"/>
                </a:solidFill>
                <a:latin typeface="Calibri"/>
              </a:rPr>
              <a:t>•  Note the comparison or baseline</a:t>
            </a:r>
          </a:p>
          <a:p>
            <a:pPr algn="l">
              <a:spcAft>
                <a:spcPts val="1000"/>
              </a:spcAft>
            </a:pPr>
            <a:r>
              <a:rPr sz="2000">
                <a:solidFill>
                  <a:srgbClr val="2B2F2A"/>
                </a:solidFill>
                <a:latin typeface="Calibri"/>
              </a:rPr>
              <a:t>•  Quantify the effect with one or two numbers</a:t>
            </a:r>
          </a:p>
        </p:txBody>
      </p:sp>
      <p:sp>
        <p:nvSpPr>
          <p:cNvPr id="6" name="Rectangle 5"/>
          <p:cNvSpPr/>
          <p:nvPr/>
        </p:nvSpPr>
        <p:spPr>
          <a:xfrm>
            <a:off x="667512" y="3977640"/>
            <a:ext cx="11112703" cy="1097280"/>
          </a:xfrm>
          <a:prstGeom prst="rect">
            <a:avLst/>
          </a:prstGeom>
          <a:solidFill>
            <a:srgbClr val="EDEAE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667512" y="3977640"/>
            <a:ext cx="73152" cy="1097280"/>
          </a:xfrm>
          <a:prstGeom prst="rect">
            <a:avLst/>
          </a:prstGeom>
          <a:solidFill>
            <a:srgbClr val="5C726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96112" y="4142232"/>
            <a:ext cx="10746943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1" i="0">
                <a:solidFill>
                  <a:srgbClr val="5C7261"/>
                </a:solidFill>
                <a:latin typeface="Calibri"/>
              </a:rPr>
              <a:t>TAKEAWAY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96112" y="4434840"/>
            <a:ext cx="10746943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800" b="0" i="0">
                <a:solidFill>
                  <a:srgbClr val="2B2F2A"/>
                </a:solidFill>
                <a:latin typeface="Calibri"/>
              </a:rPr>
              <a:t>Across 5 benchmarks, our 1.3B model matches a 7B baseline at 18% of the inference cost.</a:t>
            </a:r>
          </a:p>
        </p:txBody>
      </p:sp>
      <p:pic>
        <p:nvPicPr>
          <p:cNvPr id="10" name="Picture 9" descr="KC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366258" y="6423660"/>
            <a:ext cx="655162" cy="411480"/>
          </a:xfrm>
          <a:prstGeom prst="rect">
            <a:avLst/>
          </a:prstGeom>
        </p:spPr>
      </p:pic>
      <p:pic>
        <p:nvPicPr>
          <p:cNvPr id="11" name="Picture 10" descr="KCLNLP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186011" y="6423660"/>
            <a:ext cx="452782" cy="411480"/>
          </a:xfrm>
          <a:prstGeom prst="rect">
            <a:avLst/>
          </a:prstGeom>
        </p:spPr>
      </p:pic>
      <p:pic>
        <p:nvPicPr>
          <p:cNvPr id="12" name="Picture 11" descr="Alan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803384" y="6423660"/>
            <a:ext cx="976831" cy="411480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667512" y="6400800"/>
            <a:ext cx="8515866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400" b="0" i="1">
                <a:solidFill>
                  <a:srgbClr val="6F756C"/>
                </a:solidFill>
                <a:latin typeface="Calibri"/>
              </a:rPr>
              <a:t>King's College London  ·  KCL NLP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5C726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67512" y="457200"/>
            <a:ext cx="11112703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600" b="1" i="0">
                <a:solidFill>
                  <a:srgbClr val="2B2F2A"/>
                </a:solidFill>
                <a:latin typeface="Calibri"/>
              </a:rPr>
              <a:t>Three contributions</a:t>
            </a:r>
          </a:p>
        </p:txBody>
      </p:sp>
      <p:sp>
        <p:nvSpPr>
          <p:cNvPr id="4" name="Rectangle 3"/>
          <p:cNvSpPr/>
          <p:nvPr/>
        </p:nvSpPr>
        <p:spPr>
          <a:xfrm>
            <a:off x="667512" y="1051560"/>
            <a:ext cx="548640" cy="36576"/>
          </a:xfrm>
          <a:prstGeom prst="rect">
            <a:avLst/>
          </a:prstGeom>
          <a:solidFill>
            <a:srgbClr val="5C726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67512" y="1371600"/>
            <a:ext cx="822960" cy="77724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2800" b="1" i="0">
                <a:solidFill>
                  <a:srgbClr val="5C7261"/>
                </a:solidFill>
                <a:latin typeface="Calibri"/>
              </a:rPr>
              <a:t>01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627632" y="1371600"/>
            <a:ext cx="10152583" cy="77724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2000" b="0" i="0">
                <a:solidFill>
                  <a:srgbClr val="2B2F2A"/>
                </a:solidFill>
                <a:latin typeface="Calibri"/>
              </a:rPr>
              <a:t>Lead with the main claim worth remembering</a:t>
            </a:r>
          </a:p>
        </p:txBody>
      </p:sp>
      <p:cxnSp>
        <p:nvCxnSpPr>
          <p:cNvPr id="7" name="Connector 6"/>
          <p:cNvCxnSpPr/>
          <p:nvPr/>
        </p:nvCxnSpPr>
        <p:spPr>
          <a:xfrm>
            <a:off x="667512" y="2148840"/>
            <a:ext cx="11112703" cy="0"/>
          </a:xfrm>
          <a:prstGeom prst="line">
            <a:avLst/>
          </a:prstGeom>
          <a:ln w="6350">
            <a:solidFill>
              <a:srgbClr val="A7B5A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TextBox 7"/>
          <p:cNvSpPr txBox="1"/>
          <p:nvPr/>
        </p:nvSpPr>
        <p:spPr>
          <a:xfrm>
            <a:off x="667512" y="2148840"/>
            <a:ext cx="822960" cy="77724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2800" b="1" i="0">
                <a:solidFill>
                  <a:srgbClr val="5C7261"/>
                </a:solidFill>
                <a:latin typeface="Calibri"/>
              </a:rPr>
              <a:t>02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627632" y="2148840"/>
            <a:ext cx="10152583" cy="77724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2000" b="0" i="0">
                <a:solidFill>
                  <a:srgbClr val="2B2F2A"/>
                </a:solidFill>
                <a:latin typeface="Calibri"/>
              </a:rPr>
              <a:t>Supporting detail, a number or concrete example</a:t>
            </a:r>
          </a:p>
        </p:txBody>
      </p:sp>
      <p:cxnSp>
        <p:nvCxnSpPr>
          <p:cNvPr id="10" name="Connector 9"/>
          <p:cNvCxnSpPr/>
          <p:nvPr/>
        </p:nvCxnSpPr>
        <p:spPr>
          <a:xfrm>
            <a:off x="667512" y="2926080"/>
            <a:ext cx="11112703" cy="0"/>
          </a:xfrm>
          <a:prstGeom prst="line">
            <a:avLst/>
          </a:prstGeom>
          <a:ln w="6350">
            <a:solidFill>
              <a:srgbClr val="A7B5A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" name="TextBox 10"/>
          <p:cNvSpPr txBox="1"/>
          <p:nvPr/>
        </p:nvSpPr>
        <p:spPr>
          <a:xfrm>
            <a:off x="667512" y="2926080"/>
            <a:ext cx="822960" cy="77724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2800" b="1" i="0">
                <a:solidFill>
                  <a:srgbClr val="5C7261"/>
                </a:solidFill>
                <a:latin typeface="Calibri"/>
              </a:rPr>
              <a:t>03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627632" y="2926080"/>
            <a:ext cx="10152583" cy="77724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2000" b="0" i="0">
                <a:solidFill>
                  <a:srgbClr val="2B2F2A"/>
                </a:solidFill>
                <a:latin typeface="Calibri"/>
              </a:rPr>
              <a:t>A second supporting point that extends the first</a:t>
            </a:r>
          </a:p>
        </p:txBody>
      </p:sp>
      <p:cxnSp>
        <p:nvCxnSpPr>
          <p:cNvPr id="13" name="Connector 12"/>
          <p:cNvCxnSpPr/>
          <p:nvPr/>
        </p:nvCxnSpPr>
        <p:spPr>
          <a:xfrm>
            <a:off x="667512" y="3703320"/>
            <a:ext cx="11112703" cy="0"/>
          </a:xfrm>
          <a:prstGeom prst="line">
            <a:avLst/>
          </a:prstGeom>
          <a:ln w="6350">
            <a:solidFill>
              <a:srgbClr val="A7B5A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pic>
        <p:nvPicPr>
          <p:cNvPr id="14" name="Picture 13" descr="KC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366258" y="6423660"/>
            <a:ext cx="655162" cy="411480"/>
          </a:xfrm>
          <a:prstGeom prst="rect">
            <a:avLst/>
          </a:prstGeom>
        </p:spPr>
      </p:pic>
      <p:pic>
        <p:nvPicPr>
          <p:cNvPr id="15" name="Picture 14" descr="KCLNLP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186011" y="6423660"/>
            <a:ext cx="452782" cy="411480"/>
          </a:xfrm>
          <a:prstGeom prst="rect">
            <a:avLst/>
          </a:prstGeom>
        </p:spPr>
      </p:pic>
      <p:pic>
        <p:nvPicPr>
          <p:cNvPr id="16" name="Picture 15" descr="Alan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803384" y="6423660"/>
            <a:ext cx="976831" cy="411480"/>
          </a:xfrm>
          <a:prstGeom prst="rect">
            <a:avLst/>
          </a:prstGeom>
        </p:spPr>
      </p:pic>
      <p:sp>
        <p:nvSpPr>
          <p:cNvPr id="17" name="TextBox 16"/>
          <p:cNvSpPr txBox="1"/>
          <p:nvPr/>
        </p:nvSpPr>
        <p:spPr>
          <a:xfrm>
            <a:off x="667512" y="6400800"/>
            <a:ext cx="8515866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400" b="0" i="1">
                <a:solidFill>
                  <a:srgbClr val="6F756C"/>
                </a:solidFill>
                <a:latin typeface="Calibri"/>
              </a:rPr>
              <a:t>King's College London  ·  KCL NLP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5C726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67512" y="457200"/>
            <a:ext cx="11112703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600" b="1" i="0">
                <a:solidFill>
                  <a:srgbClr val="2B2F2A"/>
                </a:solidFill>
                <a:latin typeface="Calibri"/>
              </a:rPr>
              <a:t>Result</a:t>
            </a:r>
          </a:p>
        </p:txBody>
      </p:sp>
      <p:sp>
        <p:nvSpPr>
          <p:cNvPr id="4" name="Rectangle 3"/>
          <p:cNvSpPr/>
          <p:nvPr/>
        </p:nvSpPr>
        <p:spPr>
          <a:xfrm>
            <a:off x="667512" y="1051560"/>
            <a:ext cx="548640" cy="36576"/>
          </a:xfrm>
          <a:prstGeom prst="rect">
            <a:avLst/>
          </a:prstGeom>
          <a:solidFill>
            <a:srgbClr val="5C726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667512" y="1234440"/>
            <a:ext cx="5350611" cy="4983480"/>
          </a:xfrm>
          <a:prstGeom prst="rect">
            <a:avLst/>
          </a:prstGeom>
          <a:noFill/>
          <a:ln w="6350">
            <a:solidFill>
              <a:srgbClr val="A7B5A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67512" y="1234440"/>
            <a:ext cx="5350611" cy="49834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800" b="0" i="1">
                <a:solidFill>
                  <a:srgbClr val="6F756C"/>
                </a:solidFill>
                <a:latin typeface="Calibri"/>
              </a:rPr>
              <a:t>[ figure / diagram ]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29603" y="1234440"/>
            <a:ext cx="5350611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200" b="1" i="0">
                <a:solidFill>
                  <a:srgbClr val="2B2F2A"/>
                </a:solidFill>
                <a:latin typeface="Calibri"/>
              </a:rPr>
              <a:t>Caption or claim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29603" y="1965960"/>
            <a:ext cx="5350611" cy="42519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1000"/>
              </a:spcAft>
            </a:pPr>
            <a:r>
              <a:rPr sz="1800">
                <a:solidFill>
                  <a:srgbClr val="2B2F2A"/>
                </a:solidFill>
                <a:latin typeface="Calibri"/>
              </a:rPr>
              <a:t>•  Explain what the figure shows</a:t>
            </a:r>
          </a:p>
          <a:p>
            <a:pPr algn="l">
              <a:spcAft>
                <a:spcPts val="1000"/>
              </a:spcAft>
            </a:pPr>
            <a:r>
              <a:rPr sz="1800">
                <a:solidFill>
                  <a:srgbClr val="2B2F2A"/>
                </a:solidFill>
                <a:latin typeface="Calibri"/>
              </a:rPr>
              <a:t>•  Call out the one feature worth noting</a:t>
            </a:r>
          </a:p>
          <a:p>
            <a:pPr algn="l">
              <a:spcAft>
                <a:spcPts val="1000"/>
              </a:spcAft>
            </a:pPr>
            <a:r>
              <a:rPr sz="1800">
                <a:solidFill>
                  <a:srgbClr val="2B2F2A"/>
                </a:solidFill>
                <a:latin typeface="Calibri"/>
              </a:rPr>
              <a:t>•  Relate it back to the slide's main point</a:t>
            </a:r>
          </a:p>
        </p:txBody>
      </p:sp>
      <p:pic>
        <p:nvPicPr>
          <p:cNvPr id="9" name="Picture 8" descr="KC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366258" y="6423660"/>
            <a:ext cx="655162" cy="411480"/>
          </a:xfrm>
          <a:prstGeom prst="rect">
            <a:avLst/>
          </a:prstGeom>
        </p:spPr>
      </p:pic>
      <p:pic>
        <p:nvPicPr>
          <p:cNvPr id="10" name="Picture 9" descr="KCLNLP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186011" y="6423660"/>
            <a:ext cx="452782" cy="411480"/>
          </a:xfrm>
          <a:prstGeom prst="rect">
            <a:avLst/>
          </a:prstGeom>
        </p:spPr>
      </p:pic>
      <p:pic>
        <p:nvPicPr>
          <p:cNvPr id="11" name="Picture 10" descr="Alan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803384" y="6423660"/>
            <a:ext cx="976831" cy="411480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667512" y="6400800"/>
            <a:ext cx="8515866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400" b="0" i="1">
                <a:solidFill>
                  <a:srgbClr val="6F756C"/>
                </a:solidFill>
                <a:latin typeface="Calibri"/>
              </a:rPr>
              <a:t>King's College London  ·  KCL NLP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5C726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67512" y="1280160"/>
            <a:ext cx="1463040" cy="1280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0" b="1" i="0">
                <a:solidFill>
                  <a:srgbClr val="A7B5A0"/>
                </a:solidFill>
                <a:latin typeface="Georgia"/>
              </a:rPr>
              <a:t>“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58952" y="2468880"/>
            <a:ext cx="11021263" cy="1828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3600" b="0" i="1">
                <a:solidFill>
                  <a:srgbClr val="2B2F2A"/>
                </a:solidFill>
                <a:latin typeface="Georgia"/>
              </a:rPr>
              <a:t>Smaller models, trained on the right data, beat larger ones.</a:t>
            </a:r>
          </a:p>
        </p:txBody>
      </p:sp>
      <p:sp>
        <p:nvSpPr>
          <p:cNvPr id="5" name="Rectangle 4"/>
          <p:cNvSpPr/>
          <p:nvPr/>
        </p:nvSpPr>
        <p:spPr>
          <a:xfrm>
            <a:off x="758952" y="4754880"/>
            <a:ext cx="457200" cy="36576"/>
          </a:xfrm>
          <a:prstGeom prst="rect">
            <a:avLst/>
          </a:prstGeom>
          <a:solidFill>
            <a:srgbClr val="5C726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58952" y="4892040"/>
            <a:ext cx="11021263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1" i="0">
                <a:solidFill>
                  <a:srgbClr val="5C7261"/>
                </a:solidFill>
                <a:latin typeface="Calibri"/>
              </a:rPr>
              <a:t>MAIN RESULT</a:t>
            </a:r>
          </a:p>
        </p:txBody>
      </p:sp>
      <p:pic>
        <p:nvPicPr>
          <p:cNvPr id="7" name="Picture 6" descr="KC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366258" y="6423660"/>
            <a:ext cx="655162" cy="411480"/>
          </a:xfrm>
          <a:prstGeom prst="rect">
            <a:avLst/>
          </a:prstGeom>
        </p:spPr>
      </p:pic>
      <p:pic>
        <p:nvPicPr>
          <p:cNvPr id="8" name="Picture 7" descr="KCLNLP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186011" y="6423660"/>
            <a:ext cx="452782" cy="411480"/>
          </a:xfrm>
          <a:prstGeom prst="rect">
            <a:avLst/>
          </a:prstGeom>
        </p:spPr>
      </p:pic>
      <p:pic>
        <p:nvPicPr>
          <p:cNvPr id="9" name="Picture 8" descr="Alan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803384" y="6423660"/>
            <a:ext cx="976831" cy="411480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667512" y="6400800"/>
            <a:ext cx="8515866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400" b="0" i="1">
                <a:solidFill>
                  <a:srgbClr val="6F756C"/>
                </a:solidFill>
                <a:latin typeface="Calibri"/>
              </a:rPr>
              <a:t>King's College London  ·  KCL NLP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5C726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272887" y="1645920"/>
            <a:ext cx="1645920" cy="36576"/>
          </a:xfrm>
          <a:prstGeom prst="rect">
            <a:avLst/>
          </a:prstGeom>
          <a:solidFill>
            <a:srgbClr val="5C726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0" y="1965960"/>
            <a:ext cx="12191695" cy="146304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5600" b="1" i="0">
                <a:solidFill>
                  <a:srgbClr val="2B2F2A"/>
                </a:solidFill>
                <a:latin typeface="Calibri"/>
              </a:rPr>
              <a:t>Thank you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0" y="3566160"/>
            <a:ext cx="12191695" cy="54864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2200" b="0" i="1">
                <a:solidFill>
                  <a:srgbClr val="6F756C"/>
                </a:solidFill>
                <a:latin typeface="Calibri"/>
              </a:rPr>
              <a:t>Questions &amp; discussion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0" y="4251960"/>
            <a:ext cx="12191695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600" b="0" i="0">
                <a:solidFill>
                  <a:srgbClr val="2B2F2A"/>
                </a:solidFill>
                <a:latin typeface="Calibri"/>
              </a:rPr>
              <a:t>speaker@kcl.ac.uk  ·  kclnlp.github.io</a:t>
            </a:r>
          </a:p>
        </p:txBody>
      </p:sp>
      <p:pic>
        <p:nvPicPr>
          <p:cNvPr id="7" name="Picture 6" descr="KC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366258" y="6423660"/>
            <a:ext cx="655162" cy="411480"/>
          </a:xfrm>
          <a:prstGeom prst="rect">
            <a:avLst/>
          </a:prstGeom>
        </p:spPr>
      </p:pic>
      <p:pic>
        <p:nvPicPr>
          <p:cNvPr id="8" name="Picture 7" descr="KCLNLP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186011" y="6423660"/>
            <a:ext cx="452782" cy="411480"/>
          </a:xfrm>
          <a:prstGeom prst="rect">
            <a:avLst/>
          </a:prstGeom>
        </p:spPr>
      </p:pic>
      <p:pic>
        <p:nvPicPr>
          <p:cNvPr id="9" name="Picture 8" descr="Alan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803384" y="6423660"/>
            <a:ext cx="976831" cy="411480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667512" y="6400800"/>
            <a:ext cx="8515866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400" b="0" i="1">
                <a:solidFill>
                  <a:srgbClr val="6F756C"/>
                </a:solidFill>
                <a:latin typeface="Calibri"/>
              </a:rPr>
              <a:t>King's College London  ·  KCL NLP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