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11127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B2F2A"/>
                </a:solidFill>
                <a:latin typeface="Calibri"/>
              </a:rPr>
              <a:t>Talk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3657600"/>
            <a:ext cx="11112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6F756C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4343399"/>
            <a:ext cx="14630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526279"/>
            <a:ext cx="111127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B2F2A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4327" y="1554480"/>
            <a:ext cx="14630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745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B2F2A"/>
                </a:solidFill>
                <a:latin typeface="Calibri"/>
              </a:rPr>
              <a:t>Talk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6F756C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B2F2A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>
                <a:solidFill>
                  <a:srgbClr val="5C7261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79192" y="2743200"/>
            <a:ext cx="0" cy="914400"/>
          </a:xfrm>
          <a:prstGeom prst="line">
            <a:avLst/>
          </a:prstGeom>
          <a:ln w="12700">
            <a:solidFill>
              <a:srgbClr val="5C7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3512" y="24688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2B2F2A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F756C"/>
                </a:solidFill>
                <a:latin typeface="Calibri"/>
              </a:rPr>
              <a:t>An optional one-line summary of this section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B2F2A"/>
                </a:solidFill>
                <a:latin typeface="Calibri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A fourth line of room — the body has the full slide to breathe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Edge case, caveat, or the one thing not to forget</a:t>
            </a:r>
          </a:p>
        </p:txBody>
      </p:sp>
      <p:pic>
        <p:nvPicPr>
          <p:cNvPr id="6" name="Picture 5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7" name="Picture 6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8" name="Picture 7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B2F2A"/>
                </a:solidFill>
                <a:latin typeface="Calibri"/>
              </a:rPr>
              <a:t>Headline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Set up the experimental finding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Note the comparison or baseline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2B2F2A"/>
                </a:solidFill>
                <a:latin typeface="Calibri"/>
              </a:rPr>
              <a:t>•  Quantify the effect with one or two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3977640"/>
            <a:ext cx="11112703" cy="1097280"/>
          </a:xfrm>
          <a:prstGeom prst="rect">
            <a:avLst/>
          </a:prstGeom>
          <a:solidFill>
            <a:srgbClr val="EDE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3977640"/>
            <a:ext cx="73152" cy="109728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42232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7261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34840"/>
            <a:ext cx="10746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2B2F2A"/>
                </a:solidFill>
                <a:latin typeface="Calibri"/>
              </a:rPr>
              <a:t>Across 5 benchmarks, our 1.3B model matches a 7B baseline at 18% of the inference cost.</a:t>
            </a:r>
          </a:p>
        </p:txBody>
      </p:sp>
      <p:pic>
        <p:nvPicPr>
          <p:cNvPr id="10" name="Picture 9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1" name="Picture 10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2" name="Picture 11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B2F2A"/>
                </a:solidFill>
                <a:latin typeface="Calibri"/>
              </a:rPr>
              <a:t>Three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5C7261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7160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B2F2A"/>
                </a:solidFill>
                <a:latin typeface="Calibri"/>
              </a:rPr>
              <a:t>Lead with the main claim worth remembering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" y="2148840"/>
            <a:ext cx="11112703" cy="0"/>
          </a:xfrm>
          <a:prstGeom prst="line">
            <a:avLst/>
          </a:prstGeom>
          <a:ln w="6350">
            <a:solidFill>
              <a:srgbClr val="A7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2148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5C7261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4884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B2F2A"/>
                </a:solidFill>
                <a:latin typeface="Calibri"/>
              </a:rPr>
              <a:t>Supporting detail, a number or concrete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26080"/>
            <a:ext cx="11112703" cy="0"/>
          </a:xfrm>
          <a:prstGeom prst="line">
            <a:avLst/>
          </a:prstGeom>
          <a:ln w="6350">
            <a:solidFill>
              <a:srgbClr val="A7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29260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5C7261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2608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B2F2A"/>
                </a:solidFill>
                <a:latin typeface="Calibri"/>
              </a:rPr>
              <a:t>A second supporting point that extends the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3703320"/>
            <a:ext cx="11112703" cy="0"/>
          </a:xfrm>
          <a:prstGeom prst="line">
            <a:avLst/>
          </a:prstGeom>
          <a:ln w="6350">
            <a:solidFill>
              <a:srgbClr val="A7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5" name="Picture 14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6" name="Picture 15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B2F2A"/>
                </a:solidFill>
                <a:latin typeface="Calibri"/>
              </a:rP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  <a:ln w="6350">
            <a:solidFill>
              <a:srgbClr val="A7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6F756C"/>
                </a:solidFill>
                <a:latin typeface="Calibri"/>
              </a:rPr>
              <a:t>[ figure /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603" y="1234440"/>
            <a:ext cx="5350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B2F2A"/>
                </a:solidFill>
                <a:latin typeface="Calibri"/>
              </a:rPr>
              <a:t>Caption or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603" y="1965960"/>
            <a:ext cx="5350611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2B2F2A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2F2A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2B2F2A"/>
                </a:solidFill>
                <a:latin typeface="Calibri"/>
              </a:rPr>
              <a:t>•  Relate it back to the slide's main point</a:t>
            </a:r>
          </a:p>
        </p:txBody>
      </p:sp>
      <p:pic>
        <p:nvPicPr>
          <p:cNvPr id="9" name="Picture 8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0" name="Picture 9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1" name="Picture 10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128016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A7B5A0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68880"/>
            <a:ext cx="110212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2B2F2A"/>
                </a:solidFill>
                <a:latin typeface="Georgia"/>
              </a:rPr>
              <a:t>Smaller models, trained on the right data, beat larger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54880"/>
            <a:ext cx="45720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892040"/>
            <a:ext cx="11021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7261"/>
                </a:solidFill>
                <a:latin typeface="Calibri"/>
              </a:rPr>
              <a:t>MAIN RESULT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72887" y="1645920"/>
            <a:ext cx="1645920" cy="36576"/>
          </a:xfrm>
          <a:prstGeom prst="rect">
            <a:avLst/>
          </a:prstGeom>
          <a:solidFill>
            <a:srgbClr val="5C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2B2F2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6F756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2B2F2A"/>
                </a:solidFill>
                <a:latin typeface="Calibri"/>
              </a:rPr>
              <a:t>speaker@kcl.ac.uk  ·  kclnlp.github.io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F756C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