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5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468880"/>
            <a:ext cx="1111270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E2625"/>
                </a:solidFill>
                <a:latin typeface="Calibri"/>
              </a:rPr>
              <a:t>Talk Title Goes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3657600"/>
            <a:ext cx="111127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736A68"/>
                </a:solidFill>
                <a:latin typeface="Calibri"/>
              </a:rPr>
              <a:t>A concise subtitle or one-line 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4343399"/>
            <a:ext cx="1463040" cy="36576"/>
          </a:xfrm>
          <a:prstGeom prst="rect">
            <a:avLst/>
          </a:prstGeom>
          <a:solidFill>
            <a:srgbClr val="8A5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4526279"/>
            <a:ext cx="111127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E2625"/>
                </a:solidFill>
                <a:latin typeface="Calibri"/>
              </a:rPr>
              <a:t>Speaker Name  ·  Affiliation  ·  Month Year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736A68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5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64327" y="1554480"/>
            <a:ext cx="1463040" cy="36576"/>
          </a:xfrm>
          <a:prstGeom prst="rect">
            <a:avLst/>
          </a:prstGeom>
          <a:solidFill>
            <a:srgbClr val="8A5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7452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E2625"/>
                </a:solidFill>
                <a:latin typeface="Calibri"/>
              </a:rPr>
              <a:t>Talk Title Goes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461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1">
                <a:solidFill>
                  <a:srgbClr val="736A68"/>
                </a:solidFill>
                <a:latin typeface="Calibri"/>
              </a:rPr>
              <a:t>A concise subtitle or one-line 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2E2625"/>
                </a:solidFill>
                <a:latin typeface="Calibri"/>
              </a:rPr>
              <a:t>Speaker Name  ·  Affiliation  ·  Month Year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736A68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5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46888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0" b="1" i="0">
                <a:solidFill>
                  <a:srgbClr val="8A5E5A"/>
                </a:solidFill>
                <a:latin typeface="Calibri"/>
              </a:rPr>
              <a:t>01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79192" y="2743200"/>
            <a:ext cx="0" cy="914400"/>
          </a:xfrm>
          <a:prstGeom prst="line">
            <a:avLst/>
          </a:prstGeom>
          <a:ln w="12700">
            <a:solidFill>
              <a:srgbClr val="8A5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53512" y="246888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2E2625"/>
                </a:solidFill>
                <a:latin typeface="Calibri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3512" y="40233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736A68"/>
                </a:solidFill>
                <a:latin typeface="Calibri"/>
              </a:rPr>
              <a:t>An optional one-line summary of this section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736A68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5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11112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E2625"/>
                </a:solidFill>
                <a:latin typeface="Calibri"/>
              </a:rPr>
              <a:t>Slide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51560"/>
            <a:ext cx="548640" cy="36576"/>
          </a:xfrm>
          <a:prstGeom prst="rect">
            <a:avLst/>
          </a:prstGeom>
          <a:solidFill>
            <a:srgbClr val="8A5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234440"/>
            <a:ext cx="11112703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2E2625"/>
                </a:solidFill>
                <a:latin typeface="Calibri"/>
              </a:rPr>
              <a:t>•  Lead with the main claim — what the reader should take away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E2625"/>
                </a:solidFill>
                <a:latin typeface="Calibri"/>
              </a:rPr>
              <a:t>•  Supporting detail, ideally a number or concrete example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E2625"/>
                </a:solidFill>
                <a:latin typeface="Calibri"/>
              </a:rPr>
              <a:t>•  A second supporting point that extends the first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E2625"/>
                </a:solidFill>
                <a:latin typeface="Calibri"/>
              </a:rPr>
              <a:t>•  A fourth line of room — the body has the full slide to breathe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E2625"/>
                </a:solidFill>
                <a:latin typeface="Calibri"/>
              </a:rPr>
              <a:t>•  Edge case, caveat, or the one thing not to forget</a:t>
            </a:r>
          </a:p>
        </p:txBody>
      </p:sp>
      <p:pic>
        <p:nvPicPr>
          <p:cNvPr id="6" name="Picture 5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7" name="Picture 6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8" name="Picture 7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736A68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5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11112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E2625"/>
                </a:solidFill>
                <a:latin typeface="Calibri"/>
              </a:rPr>
              <a:t>Headline finding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51560"/>
            <a:ext cx="548640" cy="36576"/>
          </a:xfrm>
          <a:prstGeom prst="rect">
            <a:avLst/>
          </a:prstGeom>
          <a:solidFill>
            <a:srgbClr val="8A5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234440"/>
            <a:ext cx="11112703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2E2625"/>
                </a:solidFill>
                <a:latin typeface="Calibri"/>
              </a:rPr>
              <a:t>•  Set up the experimental finding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E2625"/>
                </a:solidFill>
                <a:latin typeface="Calibri"/>
              </a:rPr>
              <a:t>•  Note the comparison or baseline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E2625"/>
                </a:solidFill>
                <a:latin typeface="Calibri"/>
              </a:rPr>
              <a:t>•  Quantify the effect with one or two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3977640"/>
            <a:ext cx="11112703" cy="1097280"/>
          </a:xfrm>
          <a:prstGeom prst="rect">
            <a:avLst/>
          </a:prstGeom>
          <a:solidFill>
            <a:srgbClr val="F2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" y="3977640"/>
            <a:ext cx="73152" cy="1097280"/>
          </a:xfrm>
          <a:prstGeom prst="rect">
            <a:avLst/>
          </a:prstGeom>
          <a:solidFill>
            <a:srgbClr val="8A5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4142232"/>
            <a:ext cx="10746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5E5A"/>
                </a:solidFill>
                <a:latin typeface="Calibri"/>
              </a:rPr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434840"/>
            <a:ext cx="107469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2E2625"/>
                </a:solidFill>
                <a:latin typeface="Calibri"/>
              </a:rPr>
              <a:t>Across 5 benchmarks, our 1.3B model matches a 7B baseline at 18% of the inference cost.</a:t>
            </a:r>
          </a:p>
        </p:txBody>
      </p:sp>
      <p:pic>
        <p:nvPicPr>
          <p:cNvPr id="10" name="Picture 9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11" name="Picture 10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12" name="Picture 11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736A68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5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11112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E2625"/>
                </a:solidFill>
                <a:latin typeface="Calibri"/>
              </a:rPr>
              <a:t>Three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51560"/>
            <a:ext cx="548640" cy="36576"/>
          </a:xfrm>
          <a:prstGeom prst="rect">
            <a:avLst/>
          </a:prstGeom>
          <a:solidFill>
            <a:srgbClr val="8A5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37160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8A5E5A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1371600"/>
            <a:ext cx="101525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E2625"/>
                </a:solidFill>
                <a:latin typeface="Calibri"/>
              </a:rPr>
              <a:t>Lead with the main claim worth remembering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67512" y="2148840"/>
            <a:ext cx="11112703" cy="0"/>
          </a:xfrm>
          <a:prstGeom prst="line">
            <a:avLst/>
          </a:prstGeom>
          <a:ln w="6350">
            <a:solidFill>
              <a:srgbClr val="C9A9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67512" y="214884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8A5E5A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148840"/>
            <a:ext cx="101525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E2625"/>
                </a:solidFill>
                <a:latin typeface="Calibri"/>
              </a:rPr>
              <a:t>Supporting detail, a number or concrete example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7512" y="2926080"/>
            <a:ext cx="11112703" cy="0"/>
          </a:xfrm>
          <a:prstGeom prst="line">
            <a:avLst/>
          </a:prstGeom>
          <a:ln w="6350">
            <a:solidFill>
              <a:srgbClr val="C9A9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7512" y="292608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8A5E5A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926080"/>
            <a:ext cx="101525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E2625"/>
                </a:solidFill>
                <a:latin typeface="Calibri"/>
              </a:rPr>
              <a:t>A second supporting point that extends the first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7512" y="3703320"/>
            <a:ext cx="11112703" cy="0"/>
          </a:xfrm>
          <a:prstGeom prst="line">
            <a:avLst/>
          </a:prstGeom>
          <a:ln w="6350">
            <a:solidFill>
              <a:srgbClr val="C9A9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15" name="Picture 14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16" name="Picture 15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736A68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5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11112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E2625"/>
                </a:solidFill>
                <a:latin typeface="Calibri"/>
              </a:rPr>
              <a:t>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51560"/>
            <a:ext cx="548640" cy="36576"/>
          </a:xfrm>
          <a:prstGeom prst="rect">
            <a:avLst/>
          </a:prstGeom>
          <a:solidFill>
            <a:srgbClr val="8A5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7512" y="1234440"/>
            <a:ext cx="5350611" cy="4983480"/>
          </a:xfrm>
          <a:prstGeom prst="rect">
            <a:avLst/>
          </a:prstGeom>
          <a:noFill/>
          <a:ln w="6350">
            <a:solidFill>
              <a:srgbClr val="C9A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5350611" cy="4983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736A68"/>
                </a:solidFill>
                <a:latin typeface="Calibri"/>
              </a:rPr>
              <a:t>[ figure / diagram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9603" y="1234440"/>
            <a:ext cx="53506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E2625"/>
                </a:solidFill>
                <a:latin typeface="Calibri"/>
              </a:rPr>
              <a:t>Caption or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9603" y="1965960"/>
            <a:ext cx="5350611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2E2625"/>
                </a:solidFill>
                <a:latin typeface="Calibri"/>
              </a:rPr>
              <a:t>•  Explain what the figure shows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E2625"/>
                </a:solidFill>
                <a:latin typeface="Calibri"/>
              </a:rPr>
              <a:t>•  Call out the one feature worth noting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E2625"/>
                </a:solidFill>
                <a:latin typeface="Calibri"/>
              </a:rPr>
              <a:t>•  Relate it back to the slide's main point</a:t>
            </a:r>
          </a:p>
        </p:txBody>
      </p:sp>
      <p:pic>
        <p:nvPicPr>
          <p:cNvPr id="9" name="Picture 8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10" name="Picture 9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11" name="Picture 10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736A68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5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128016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 i="0">
                <a:solidFill>
                  <a:srgbClr val="C9A9A1"/>
                </a:solidFill>
                <a:latin typeface="Georgia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468880"/>
            <a:ext cx="1102126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2E2625"/>
                </a:solidFill>
                <a:latin typeface="Georgia"/>
              </a:rPr>
              <a:t>Smaller models, trained on the right data, beat larger ones.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4754880"/>
            <a:ext cx="457200" cy="36576"/>
          </a:xfrm>
          <a:prstGeom prst="rect">
            <a:avLst/>
          </a:prstGeom>
          <a:solidFill>
            <a:srgbClr val="8A5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4892040"/>
            <a:ext cx="11021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5E5A"/>
                </a:solidFill>
                <a:latin typeface="Calibri"/>
              </a:rPr>
              <a:t>MAIN RESULT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736A68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5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72887" y="1645920"/>
            <a:ext cx="1645920" cy="36576"/>
          </a:xfrm>
          <a:prstGeom prst="rect">
            <a:avLst/>
          </a:prstGeom>
          <a:solidFill>
            <a:srgbClr val="8A5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965960"/>
            <a:ext cx="12191695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0" b="1" i="0">
                <a:solidFill>
                  <a:srgbClr val="2E2625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1">
                <a:solidFill>
                  <a:srgbClr val="736A68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51960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2E2625"/>
                </a:solidFill>
                <a:latin typeface="Calibri"/>
              </a:rPr>
              <a:t>speaker@kcl.ac.uk  ·  kclnlp.github.io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736A68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