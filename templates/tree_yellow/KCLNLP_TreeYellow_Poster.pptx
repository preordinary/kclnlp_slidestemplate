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966" cy="5669280"/>
          </a:xfrm>
          <a:prstGeom prst="rect">
            <a:avLst/>
          </a:prstGeom>
          <a:solidFill>
            <a:srgbClr val="F2E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822960"/>
            <a:ext cx="201168" cy="3291840"/>
          </a:xfrm>
          <a:prstGeom prst="rect">
            <a:avLst/>
          </a:prstGeom>
          <a:solidFill>
            <a:srgbClr val="D9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CL.png"/>
          <p:cNvPicPr>
            <a:picLocks noChangeAspect="1"/>
          </p:cNvPicPr>
          <p:nvPr/>
        </p:nvPicPr>
        <p:blipFill>
          <a:blip r:embed="rId2"/>
          <a:stretch>
            <a:fillRect/>
          </a:stretch>
        </p:blipFill>
        <p:spPr>
          <a:xfrm>
            <a:off x="21406478" y="822960"/>
            <a:ext cx="2183872" cy="1371600"/>
          </a:xfrm>
          <a:prstGeom prst="rect">
            <a:avLst/>
          </a:prstGeom>
        </p:spPr>
      </p:pic>
      <p:pic>
        <p:nvPicPr>
          <p:cNvPr id="5" name="Picture 4" descr="KCLNLP.png"/>
          <p:cNvPicPr>
            <a:picLocks noChangeAspect="1"/>
          </p:cNvPicPr>
          <p:nvPr/>
        </p:nvPicPr>
        <p:blipFill>
          <a:blip r:embed="rId3"/>
          <a:stretch>
            <a:fillRect/>
          </a:stretch>
        </p:blipFill>
        <p:spPr>
          <a:xfrm>
            <a:off x="24093270" y="822960"/>
            <a:ext cx="1509273" cy="1371600"/>
          </a:xfrm>
          <a:prstGeom prst="rect">
            <a:avLst/>
          </a:prstGeom>
        </p:spPr>
      </p:pic>
      <p:pic>
        <p:nvPicPr>
          <p:cNvPr id="6" name="Picture 5" descr="Alan.png"/>
          <p:cNvPicPr>
            <a:picLocks noChangeAspect="1"/>
          </p:cNvPicPr>
          <p:nvPr/>
        </p:nvPicPr>
        <p:blipFill>
          <a:blip r:embed="rId4"/>
          <a:stretch>
            <a:fillRect/>
          </a:stretch>
        </p:blipFill>
        <p:spPr>
          <a:xfrm>
            <a:off x="26105463" y="822960"/>
            <a:ext cx="3256104" cy="1371600"/>
          </a:xfrm>
          <a:prstGeom prst="rect">
            <a:avLst/>
          </a:prstGeom>
        </p:spPr>
      </p:pic>
      <p:sp>
        <p:nvSpPr>
          <p:cNvPr id="7" name="TextBox 6"/>
          <p:cNvSpPr txBox="1"/>
          <p:nvPr/>
        </p:nvSpPr>
        <p:spPr>
          <a:xfrm>
            <a:off x="1600200" y="640080"/>
            <a:ext cx="19440518" cy="3200400"/>
          </a:xfrm>
          <a:prstGeom prst="rect">
            <a:avLst/>
          </a:prstGeom>
          <a:noFill/>
        </p:spPr>
        <p:txBody>
          <a:bodyPr wrap="square" lIns="0" rIns="0" tIns="0" bIns="0" anchor="t">
            <a:spAutoFit/>
          </a:bodyPr>
          <a:lstStyle/>
          <a:p>
            <a:pPr algn="l"/>
            <a:r>
              <a:rPr sz="8800" b="1" i="0">
                <a:solidFill>
                  <a:srgbClr val="1F1F1F"/>
                </a:solidFill>
                <a:latin typeface="Calibri"/>
              </a:rPr>
              <a:t>Your Poster Title Goes Here</a:t>
            </a:r>
          </a:p>
        </p:txBody>
      </p:sp>
      <p:sp>
        <p:nvSpPr>
          <p:cNvPr id="8" name="TextBox 7"/>
          <p:cNvSpPr txBox="1"/>
          <p:nvPr/>
        </p:nvSpPr>
        <p:spPr>
          <a:xfrm>
            <a:off x="1600200" y="4023360"/>
            <a:ext cx="19440518" cy="822960"/>
          </a:xfrm>
          <a:prstGeom prst="rect">
            <a:avLst/>
          </a:prstGeom>
          <a:noFill/>
        </p:spPr>
        <p:txBody>
          <a:bodyPr wrap="square" lIns="0" rIns="0" tIns="0" bIns="0" anchor="t">
            <a:spAutoFit/>
          </a:bodyPr>
          <a:lstStyle/>
          <a:p>
            <a:pPr algn="l"/>
            <a:r>
              <a:rPr sz="3600" b="0" i="0">
                <a:solidFill>
                  <a:srgbClr val="1F1F1F"/>
                </a:solidFill>
                <a:latin typeface="Calibri"/>
              </a:rPr>
              <a:t>First Author · Second Author · Third Author</a:t>
            </a:r>
          </a:p>
        </p:txBody>
      </p:sp>
      <p:sp>
        <p:nvSpPr>
          <p:cNvPr id="9" name="TextBox 8"/>
          <p:cNvSpPr txBox="1"/>
          <p:nvPr/>
        </p:nvSpPr>
        <p:spPr>
          <a:xfrm>
            <a:off x="1600200" y="4937760"/>
            <a:ext cx="19440518" cy="640080"/>
          </a:xfrm>
          <a:prstGeom prst="rect">
            <a:avLst/>
          </a:prstGeom>
          <a:noFill/>
        </p:spPr>
        <p:txBody>
          <a:bodyPr wrap="square" lIns="0" rIns="0" tIns="0" bIns="0" anchor="t">
            <a:spAutoFit/>
          </a:bodyPr>
          <a:lstStyle/>
          <a:p>
            <a:pPr algn="l"/>
            <a:r>
              <a:rPr sz="2600" b="0" i="1">
                <a:solidFill>
                  <a:srgbClr val="555555"/>
                </a:solidFill>
                <a:latin typeface="Calibri"/>
              </a:rPr>
              <a:t>King's College London  ·  KCL NLP  ·  The Alan Turing Institute</a:t>
            </a:r>
          </a:p>
        </p:txBody>
      </p:sp>
      <p:cxnSp>
        <p:nvCxnSpPr>
          <p:cNvPr id="10" name="Connector 9"/>
          <p:cNvCxnSpPr/>
          <p:nvPr/>
        </p:nvCxnSpPr>
        <p:spPr>
          <a:xfrm>
            <a:off x="0" y="5669280"/>
            <a:ext cx="30275966" cy="0"/>
          </a:xfrm>
          <a:prstGeom prst="line">
            <a:avLst/>
          </a:prstGeom>
          <a:ln w="63500">
            <a:solidFill>
              <a:srgbClr val="D94A1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44388" y="6858000"/>
            <a:ext cx="0" cy="33751418"/>
          </a:xfrm>
          <a:prstGeom prst="line">
            <a:avLst/>
          </a:prstGeom>
          <a:ln w="12700">
            <a:solidFill>
              <a:srgbClr val="D94A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031576" y="6858000"/>
            <a:ext cx="0" cy="33751418"/>
          </a:xfrm>
          <a:prstGeom prst="line">
            <a:avLst/>
          </a:prstGeom>
          <a:ln w="12700">
            <a:solidFill>
              <a:srgbClr val="D94A1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6400800"/>
            <a:ext cx="8872788" cy="822960"/>
          </a:xfrm>
          <a:prstGeom prst="rect">
            <a:avLst/>
          </a:prstGeom>
          <a:noFill/>
        </p:spPr>
        <p:txBody>
          <a:bodyPr wrap="square" lIns="0" rIns="0" tIns="0" bIns="0" anchor="t">
            <a:spAutoFit/>
          </a:bodyPr>
          <a:lstStyle/>
          <a:p>
            <a:pPr algn="l"/>
            <a:r>
              <a:rPr sz="4800" b="1" i="0">
                <a:solidFill>
                  <a:srgbClr val="1F1F1F"/>
                </a:solidFill>
                <a:latin typeface="Calibri"/>
              </a:rPr>
              <a:t>Introduction</a:t>
            </a:r>
          </a:p>
        </p:txBody>
      </p:sp>
      <p:cxnSp>
        <p:nvCxnSpPr>
          <p:cNvPr id="14" name="Connector 13"/>
          <p:cNvCxnSpPr/>
          <p:nvPr/>
        </p:nvCxnSpPr>
        <p:spPr>
          <a:xfrm>
            <a:off x="914400" y="7269480"/>
            <a:ext cx="2286000" cy="0"/>
          </a:xfrm>
          <a:prstGeom prst="line">
            <a:avLst/>
          </a:prstGeom>
          <a:ln w="38100">
            <a:solidFill>
              <a:srgbClr val="D94A1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7498080"/>
            <a:ext cx="8872788" cy="3657600"/>
          </a:xfrm>
          <a:prstGeom prst="rect">
            <a:avLst/>
          </a:prstGeom>
          <a:noFill/>
        </p:spPr>
        <p:txBody>
          <a:bodyPr wrap="square" lIns="0" rIns="0" tIns="0" bIns="0" anchor="t">
            <a:spAutoFit/>
          </a:bodyPr>
          <a:lstStyle/>
          <a:p>
            <a:pPr algn="l"/>
            <a:r>
              <a:rPr sz="2600" b="0" i="0">
                <a:solidFill>
                  <a:srgbClr val="1F1F1F"/>
                </a:solidFill>
                <a:latin typeface="Calibri"/>
              </a:rPr>
              <a:t>Open with the problem and why it matters. Frame the gap in prior work and state the contribution in one sentence.</a:t>
            </a:r>
          </a:p>
        </p:txBody>
      </p:sp>
      <p:sp>
        <p:nvSpPr>
          <p:cNvPr id="16" name="TextBox 15"/>
          <p:cNvSpPr txBox="1"/>
          <p:nvPr/>
        </p:nvSpPr>
        <p:spPr>
          <a:xfrm>
            <a:off x="914400" y="11430000"/>
            <a:ext cx="8872788" cy="822960"/>
          </a:xfrm>
          <a:prstGeom prst="rect">
            <a:avLst/>
          </a:prstGeom>
          <a:noFill/>
        </p:spPr>
        <p:txBody>
          <a:bodyPr wrap="square" lIns="0" rIns="0" tIns="0" bIns="0" anchor="t">
            <a:spAutoFit/>
          </a:bodyPr>
          <a:lstStyle/>
          <a:p>
            <a:pPr algn="l"/>
            <a:r>
              <a:rPr sz="4800" b="1" i="0">
                <a:solidFill>
                  <a:srgbClr val="1F1F1F"/>
                </a:solidFill>
                <a:latin typeface="Calibri"/>
              </a:rPr>
              <a:t>Method</a:t>
            </a:r>
          </a:p>
        </p:txBody>
      </p:sp>
      <p:cxnSp>
        <p:nvCxnSpPr>
          <p:cNvPr id="17" name="Connector 16"/>
          <p:cNvCxnSpPr/>
          <p:nvPr/>
        </p:nvCxnSpPr>
        <p:spPr>
          <a:xfrm>
            <a:off x="914400" y="12298680"/>
            <a:ext cx="2286000" cy="0"/>
          </a:xfrm>
          <a:prstGeom prst="line">
            <a:avLst/>
          </a:prstGeom>
          <a:ln w="38100">
            <a:solidFill>
              <a:srgbClr val="D94A1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14400" y="12527280"/>
            <a:ext cx="8872788" cy="14630400"/>
          </a:xfrm>
          <a:prstGeom prst="rect">
            <a:avLst/>
          </a:prstGeom>
          <a:noFill/>
        </p:spPr>
        <p:txBody>
          <a:bodyPr wrap="square" lIns="0" rIns="0" tIns="0" bIns="0">
            <a:spAutoFit/>
          </a:bodyPr>
          <a:lstStyle/>
          <a:p>
            <a:pPr algn="l">
              <a:spcAft>
                <a:spcPts val="1400"/>
              </a:spcAft>
            </a:pPr>
            <a:r>
              <a:rPr sz="2600">
                <a:solidFill>
                  <a:srgbClr val="1F1F1F"/>
                </a:solidFill>
                <a:latin typeface="Calibri"/>
              </a:rPr>
              <a:t>•  Dataset — what you used and how it was collected</a:t>
            </a:r>
          </a:p>
          <a:p>
            <a:pPr algn="l">
              <a:spcAft>
                <a:spcPts val="1400"/>
              </a:spcAft>
            </a:pPr>
            <a:r>
              <a:rPr sz="2600">
                <a:solidFill>
                  <a:srgbClr val="1F1F1F"/>
                </a:solidFill>
                <a:latin typeface="Calibri"/>
              </a:rPr>
              <a:t>•  Model / algorithm — architecture, training regime, hyper-parameters</a:t>
            </a:r>
          </a:p>
          <a:p>
            <a:pPr algn="l">
              <a:spcAft>
                <a:spcPts val="1400"/>
              </a:spcAft>
            </a:pPr>
            <a:r>
              <a:rPr sz="2600">
                <a:solidFill>
                  <a:srgbClr val="1F1F1F"/>
                </a:solidFill>
                <a:latin typeface="Calibri"/>
              </a:rPr>
              <a:t>•  Evaluation — metrics, baselines, held-out sets</a:t>
            </a:r>
          </a:p>
          <a:p>
            <a:pPr algn="l">
              <a:spcAft>
                <a:spcPts val="1400"/>
              </a:spcAft>
            </a:pPr>
            <a:r>
              <a:rPr sz="2600">
                <a:solidFill>
                  <a:srgbClr val="1F1F1F"/>
                </a:solidFill>
                <a:latin typeface="Calibri"/>
              </a:rPr>
              <a:t>•  Implementation — reproducibility notes, compute budget</a:t>
            </a:r>
          </a:p>
          <a:p>
            <a:pPr algn="l">
              <a:spcAft>
                <a:spcPts val="1400"/>
              </a:spcAft>
            </a:pPr>
            <a:r>
              <a:rPr sz="2600">
                <a:solidFill>
                  <a:srgbClr val="1F1F1F"/>
                </a:solidFill>
                <a:latin typeface="Calibri"/>
              </a:rPr>
              <a:t>•  Ablation — what you varied to isolate each effect</a:t>
            </a:r>
          </a:p>
        </p:txBody>
      </p:sp>
      <p:sp>
        <p:nvSpPr>
          <p:cNvPr id="19" name="TextBox 18"/>
          <p:cNvSpPr txBox="1"/>
          <p:nvPr/>
        </p:nvSpPr>
        <p:spPr>
          <a:xfrm>
            <a:off x="10701588" y="6400800"/>
            <a:ext cx="8872788" cy="822960"/>
          </a:xfrm>
          <a:prstGeom prst="rect">
            <a:avLst/>
          </a:prstGeom>
          <a:noFill/>
        </p:spPr>
        <p:txBody>
          <a:bodyPr wrap="square" lIns="0" rIns="0" tIns="0" bIns="0" anchor="t">
            <a:spAutoFit/>
          </a:bodyPr>
          <a:lstStyle/>
          <a:p>
            <a:pPr algn="l"/>
            <a:r>
              <a:rPr sz="4800" b="1" i="0">
                <a:solidFill>
                  <a:srgbClr val="1F1F1F"/>
                </a:solidFill>
                <a:latin typeface="Calibri"/>
              </a:rPr>
              <a:t>Results</a:t>
            </a:r>
          </a:p>
        </p:txBody>
      </p:sp>
      <p:cxnSp>
        <p:nvCxnSpPr>
          <p:cNvPr id="20" name="Connector 19"/>
          <p:cNvCxnSpPr/>
          <p:nvPr/>
        </p:nvCxnSpPr>
        <p:spPr>
          <a:xfrm>
            <a:off x="10701588" y="7269480"/>
            <a:ext cx="2286000" cy="0"/>
          </a:xfrm>
          <a:prstGeom prst="line">
            <a:avLst/>
          </a:prstGeom>
          <a:ln w="38100">
            <a:solidFill>
              <a:srgbClr val="D94A1C"/>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0701588" y="7498080"/>
            <a:ext cx="8872788" cy="8229600"/>
          </a:xfrm>
          <a:prstGeom prst="rect">
            <a:avLst/>
          </a:prstGeom>
          <a:noFill/>
          <a:ln w="1905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01588" y="7498080"/>
            <a:ext cx="8872788" cy="8229600"/>
          </a:xfrm>
          <a:prstGeom prst="rect">
            <a:avLst/>
          </a:prstGeom>
          <a:noFill/>
        </p:spPr>
        <p:txBody>
          <a:bodyPr wrap="square" lIns="0" rIns="0" tIns="0" bIns="0" anchor="ctr">
            <a:spAutoFit/>
          </a:bodyPr>
          <a:lstStyle/>
          <a:p>
            <a:pPr algn="ctr"/>
            <a:r>
              <a:rPr sz="2800" b="0" i="1">
                <a:solidFill>
                  <a:srgbClr val="555555"/>
                </a:solidFill>
                <a:latin typeface="Calibri"/>
              </a:rPr>
              <a:t>[ figure / diagram ]</a:t>
            </a:r>
          </a:p>
        </p:txBody>
      </p:sp>
      <p:sp>
        <p:nvSpPr>
          <p:cNvPr id="23" name="TextBox 22"/>
          <p:cNvSpPr txBox="1"/>
          <p:nvPr/>
        </p:nvSpPr>
        <p:spPr>
          <a:xfrm>
            <a:off x="10701588" y="15864840"/>
            <a:ext cx="8872788" cy="457200"/>
          </a:xfrm>
          <a:prstGeom prst="rect">
            <a:avLst/>
          </a:prstGeom>
          <a:noFill/>
        </p:spPr>
        <p:txBody>
          <a:bodyPr wrap="square" lIns="0" rIns="0" tIns="0" bIns="0" anchor="t">
            <a:spAutoFit/>
          </a:bodyPr>
          <a:lstStyle/>
          <a:p>
            <a:pPr algn="l"/>
            <a:r>
              <a:rPr sz="2000" b="0" i="1">
                <a:solidFill>
                  <a:srgbClr val="555555"/>
                </a:solidFill>
                <a:latin typeface="Calibri"/>
              </a:rPr>
              <a:t>Figure 1. Main result — replace this box with your chart.</a:t>
            </a:r>
          </a:p>
        </p:txBody>
      </p:sp>
      <p:sp>
        <p:nvSpPr>
          <p:cNvPr id="24" name="TextBox 23"/>
          <p:cNvSpPr txBox="1"/>
          <p:nvPr/>
        </p:nvSpPr>
        <p:spPr>
          <a:xfrm>
            <a:off x="10701588" y="16642080"/>
            <a:ext cx="8872788" cy="9144000"/>
          </a:xfrm>
          <a:prstGeom prst="rect">
            <a:avLst/>
          </a:prstGeom>
          <a:noFill/>
        </p:spPr>
        <p:txBody>
          <a:bodyPr wrap="square" lIns="0" rIns="0" tIns="0" bIns="0">
            <a:spAutoFit/>
          </a:bodyPr>
          <a:lstStyle/>
          <a:p>
            <a:pPr algn="l">
              <a:spcAft>
                <a:spcPts val="1400"/>
              </a:spcAft>
            </a:pPr>
            <a:r>
              <a:rPr sz="2600">
                <a:solidFill>
                  <a:srgbClr val="1F1F1F"/>
                </a:solidFill>
                <a:latin typeface="Calibri"/>
              </a:rPr>
              <a:t>•  Headline number — the single result the reader must remember</a:t>
            </a:r>
          </a:p>
          <a:p>
            <a:pPr algn="l">
              <a:spcAft>
                <a:spcPts val="1400"/>
              </a:spcAft>
            </a:pPr>
            <a:r>
              <a:rPr sz="2600">
                <a:solidFill>
                  <a:srgbClr val="1F1F1F"/>
                </a:solidFill>
                <a:latin typeface="Calibri"/>
              </a:rPr>
              <a:t>•  Second finding — what changed when you varied X</a:t>
            </a:r>
          </a:p>
          <a:p>
            <a:pPr algn="l">
              <a:spcAft>
                <a:spcPts val="1400"/>
              </a:spcAft>
            </a:pPr>
            <a:r>
              <a:rPr sz="2600">
                <a:solidFill>
                  <a:srgbClr val="1F1F1F"/>
                </a:solidFill>
                <a:latin typeface="Calibri"/>
              </a:rPr>
              <a:t>•  Error analysis — where the method still fails</a:t>
            </a:r>
          </a:p>
          <a:p>
            <a:pPr algn="l">
              <a:spcAft>
                <a:spcPts val="1400"/>
              </a:spcAft>
            </a:pPr>
            <a:r>
              <a:rPr sz="2600">
                <a:solidFill>
                  <a:srgbClr val="1F1F1F"/>
                </a:solidFill>
                <a:latin typeface="Calibri"/>
              </a:rPr>
              <a:t>•  Comparison — how this relates to the strongest baseline</a:t>
            </a:r>
          </a:p>
        </p:txBody>
      </p:sp>
      <p:sp>
        <p:nvSpPr>
          <p:cNvPr id="25" name="TextBox 24"/>
          <p:cNvSpPr txBox="1"/>
          <p:nvPr/>
        </p:nvSpPr>
        <p:spPr>
          <a:xfrm>
            <a:off x="20488776" y="6400800"/>
            <a:ext cx="8872788" cy="822960"/>
          </a:xfrm>
          <a:prstGeom prst="rect">
            <a:avLst/>
          </a:prstGeom>
          <a:noFill/>
        </p:spPr>
        <p:txBody>
          <a:bodyPr wrap="square" lIns="0" rIns="0" tIns="0" bIns="0" anchor="t">
            <a:spAutoFit/>
          </a:bodyPr>
          <a:lstStyle/>
          <a:p>
            <a:pPr algn="l"/>
            <a:r>
              <a:rPr sz="4800" b="1" i="0">
                <a:solidFill>
                  <a:srgbClr val="1F1F1F"/>
                </a:solidFill>
                <a:latin typeface="Calibri"/>
              </a:rPr>
              <a:t>Conclusion</a:t>
            </a:r>
          </a:p>
        </p:txBody>
      </p:sp>
      <p:cxnSp>
        <p:nvCxnSpPr>
          <p:cNvPr id="26" name="Connector 25"/>
          <p:cNvCxnSpPr/>
          <p:nvPr/>
        </p:nvCxnSpPr>
        <p:spPr>
          <a:xfrm>
            <a:off x="20488776" y="7269480"/>
            <a:ext cx="2286000" cy="0"/>
          </a:xfrm>
          <a:prstGeom prst="line">
            <a:avLst/>
          </a:prstGeom>
          <a:ln w="38100">
            <a:solidFill>
              <a:srgbClr val="D94A1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0488776" y="7498080"/>
            <a:ext cx="8872788" cy="4572000"/>
          </a:xfrm>
          <a:prstGeom prst="rect">
            <a:avLst/>
          </a:prstGeom>
          <a:noFill/>
        </p:spPr>
        <p:txBody>
          <a:bodyPr wrap="square" lIns="0" rIns="0" tIns="0" bIns="0" anchor="t">
            <a:spAutoFit/>
          </a:bodyPr>
          <a:lstStyle/>
          <a:p>
            <a:pPr algn="l"/>
            <a:r>
              <a:rPr sz="2600" b="0" i="0">
                <a:solidFill>
                  <a:srgbClr val="1F1F1F"/>
                </a:solidFill>
                <a:latin typeface="Calibri"/>
              </a:rPr>
              <a:t>Restate the contribution in the terms of the result. Note the one limitation that most shapes when to use (or not use) this approach, and point to the next question it opens up.</a:t>
            </a:r>
          </a:p>
        </p:txBody>
      </p:sp>
      <p:sp>
        <p:nvSpPr>
          <p:cNvPr id="28" name="TextBox 27"/>
          <p:cNvSpPr txBox="1"/>
          <p:nvPr/>
        </p:nvSpPr>
        <p:spPr>
          <a:xfrm>
            <a:off x="20488776" y="12344400"/>
            <a:ext cx="8872788" cy="822960"/>
          </a:xfrm>
          <a:prstGeom prst="rect">
            <a:avLst/>
          </a:prstGeom>
          <a:noFill/>
        </p:spPr>
        <p:txBody>
          <a:bodyPr wrap="square" lIns="0" rIns="0" tIns="0" bIns="0" anchor="t">
            <a:spAutoFit/>
          </a:bodyPr>
          <a:lstStyle/>
          <a:p>
            <a:pPr algn="l"/>
            <a:r>
              <a:rPr sz="4800" b="1" i="0">
                <a:solidFill>
                  <a:srgbClr val="1F1F1F"/>
                </a:solidFill>
                <a:latin typeface="Calibri"/>
              </a:rPr>
              <a:t>References</a:t>
            </a:r>
          </a:p>
        </p:txBody>
      </p:sp>
      <p:cxnSp>
        <p:nvCxnSpPr>
          <p:cNvPr id="29" name="Connector 28"/>
          <p:cNvCxnSpPr/>
          <p:nvPr/>
        </p:nvCxnSpPr>
        <p:spPr>
          <a:xfrm>
            <a:off x="20488776" y="13213080"/>
            <a:ext cx="2286000" cy="0"/>
          </a:xfrm>
          <a:prstGeom prst="line">
            <a:avLst/>
          </a:prstGeom>
          <a:ln w="38100">
            <a:solidFill>
              <a:srgbClr val="D94A1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0488776" y="13441680"/>
            <a:ext cx="8872788" cy="4572000"/>
          </a:xfrm>
          <a:prstGeom prst="rect">
            <a:avLst/>
          </a:prstGeom>
          <a:noFill/>
        </p:spPr>
        <p:txBody>
          <a:bodyPr wrap="square" lIns="0" rIns="0" tIns="0" bIns="0">
            <a:spAutoFit/>
          </a:bodyPr>
          <a:lstStyle/>
          <a:p>
            <a:pPr algn="l">
              <a:spcAft>
                <a:spcPts val="1400"/>
              </a:spcAft>
            </a:pPr>
            <a:r>
              <a:rPr sz="2000">
                <a:solidFill>
                  <a:srgbClr val="555555"/>
                </a:solidFill>
                <a:latin typeface="Calibri"/>
              </a:rPr>
              <a:t>•  Author, A. et al. (Year). Title. Venue.</a:t>
            </a:r>
          </a:p>
          <a:p>
            <a:pPr algn="l">
              <a:spcAft>
                <a:spcPts val="1400"/>
              </a:spcAft>
            </a:pPr>
            <a:r>
              <a:rPr sz="2000">
                <a:solidFill>
                  <a:srgbClr val="555555"/>
                </a:solidFill>
                <a:latin typeface="Calibri"/>
              </a:rPr>
              <a:t>•  Author, B. &amp; Author, C. (Year). Title. Venue.</a:t>
            </a:r>
          </a:p>
          <a:p>
            <a:pPr algn="l">
              <a:spcAft>
                <a:spcPts val="1400"/>
              </a:spcAft>
            </a:pPr>
            <a:r>
              <a:rPr sz="2000">
                <a:solidFill>
                  <a:srgbClr val="555555"/>
                </a:solidFill>
                <a:latin typeface="Calibri"/>
              </a:rPr>
              <a:t>•  Author, D. (Year). Title. Venue.</a:t>
            </a:r>
          </a:p>
        </p:txBody>
      </p:sp>
      <p:sp>
        <p:nvSpPr>
          <p:cNvPr id="31" name="TextBox 30"/>
          <p:cNvSpPr txBox="1"/>
          <p:nvPr/>
        </p:nvSpPr>
        <p:spPr>
          <a:xfrm>
            <a:off x="20488776" y="18196560"/>
            <a:ext cx="8872788" cy="822960"/>
          </a:xfrm>
          <a:prstGeom prst="rect">
            <a:avLst/>
          </a:prstGeom>
          <a:noFill/>
        </p:spPr>
        <p:txBody>
          <a:bodyPr wrap="square" lIns="0" rIns="0" tIns="0" bIns="0" anchor="t">
            <a:spAutoFit/>
          </a:bodyPr>
          <a:lstStyle/>
          <a:p>
            <a:pPr algn="l"/>
            <a:r>
              <a:rPr sz="4800" b="1" i="0">
                <a:solidFill>
                  <a:srgbClr val="1F1F1F"/>
                </a:solidFill>
                <a:latin typeface="Calibri"/>
              </a:rPr>
              <a:t>Acknowledgements</a:t>
            </a:r>
          </a:p>
        </p:txBody>
      </p:sp>
      <p:cxnSp>
        <p:nvCxnSpPr>
          <p:cNvPr id="32" name="Connector 31"/>
          <p:cNvCxnSpPr/>
          <p:nvPr/>
        </p:nvCxnSpPr>
        <p:spPr>
          <a:xfrm>
            <a:off x="20488776" y="19065240"/>
            <a:ext cx="2286000" cy="0"/>
          </a:xfrm>
          <a:prstGeom prst="line">
            <a:avLst/>
          </a:prstGeom>
          <a:ln w="38100">
            <a:solidFill>
              <a:srgbClr val="D94A1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488776" y="19293840"/>
            <a:ext cx="8872788" cy="2286000"/>
          </a:xfrm>
          <a:prstGeom prst="rect">
            <a:avLst/>
          </a:prstGeom>
          <a:noFill/>
        </p:spPr>
        <p:txBody>
          <a:bodyPr wrap="square" lIns="0" rIns="0" tIns="0" bIns="0" anchor="t">
            <a:spAutoFit/>
          </a:bodyPr>
          <a:lstStyle/>
          <a:p>
            <a:pPr algn="l"/>
            <a:r>
              <a:rPr sz="2000" b="0" i="1">
                <a:solidFill>
                  <a:srgbClr val="555555"/>
                </a:solidFill>
                <a:latin typeface="Calibri"/>
              </a:rPr>
              <a:t>Funding, collaborators, and compute providers who made this work possible.</a:t>
            </a:r>
          </a:p>
        </p:txBody>
      </p:sp>
      <p:cxnSp>
        <p:nvCxnSpPr>
          <p:cNvPr id="34" name="Connector 33"/>
          <p:cNvCxnSpPr/>
          <p:nvPr/>
        </p:nvCxnSpPr>
        <p:spPr>
          <a:xfrm>
            <a:off x="914400" y="41432378"/>
            <a:ext cx="28447166" cy="0"/>
          </a:xfrm>
          <a:prstGeom prst="line">
            <a:avLst/>
          </a:prstGeom>
          <a:ln w="25400">
            <a:solidFill>
              <a:srgbClr val="D94A1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400" y="41660978"/>
            <a:ext cx="28447166" cy="548640"/>
          </a:xfrm>
          <a:prstGeom prst="rect">
            <a:avLst/>
          </a:prstGeom>
          <a:noFill/>
        </p:spPr>
        <p:txBody>
          <a:bodyPr wrap="square" lIns="0" rIns="0" tIns="0" bIns="0" anchor="t">
            <a:spAutoFit/>
          </a:bodyPr>
          <a:lstStyle/>
          <a:p>
            <a:pPr algn="l"/>
            <a:r>
              <a:rPr sz="2400" b="0" i="0">
                <a:solidFill>
                  <a:srgbClr val="1F1F1F"/>
                </a:solidFill>
                <a:latin typeface="Calibri"/>
              </a:rPr>
              <a:t>speaker@kcl.ac.uk  ·  kclnlp.github.io  ·  @kclnlp</a:t>
            </a:r>
          </a:p>
        </p:txBody>
      </p:sp>
      <p:sp>
        <p:nvSpPr>
          <p:cNvPr id="36" name="TextBox 35"/>
          <p:cNvSpPr txBox="1"/>
          <p:nvPr/>
        </p:nvSpPr>
        <p:spPr>
          <a:xfrm>
            <a:off x="914400" y="42118178"/>
            <a:ext cx="28447166" cy="457200"/>
          </a:xfrm>
          <a:prstGeom prst="rect">
            <a:avLst/>
          </a:prstGeom>
          <a:noFill/>
        </p:spPr>
        <p:txBody>
          <a:bodyPr wrap="square" lIns="0" rIns="0" tIns="0" bIns="0" anchor="t">
            <a:spAutoFit/>
          </a:bodyPr>
          <a:lstStyle/>
          <a:p>
            <a:pPr algn="l"/>
            <a:r>
              <a:rPr sz="2000" b="0" i="1">
                <a:solidFill>
                  <a:srgbClr val="555555"/>
                </a:solidFill>
                <a:latin typeface="Calibri"/>
              </a:rPr>
              <a:t>King's College London  ·  NLP Group  ·  Conference Year</a:t>
            </a:r>
          </a:p>
        </p:txBody>
      </p:sp>
      <p:sp>
        <p:nvSpPr>
          <p:cNvPr id="37" name="Rectangle 36"/>
          <p:cNvSpPr/>
          <p:nvPr/>
        </p:nvSpPr>
        <p:spPr>
          <a:xfrm>
            <a:off x="27349886" y="38963498"/>
            <a:ext cx="2011680" cy="2011680"/>
          </a:xfrm>
          <a:prstGeom prst="rect">
            <a:avLst/>
          </a:prstGeom>
          <a:noFill/>
          <a:ln w="1905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349886" y="38963498"/>
            <a:ext cx="2011680" cy="2011680"/>
          </a:xfrm>
          <a:prstGeom prst="rect">
            <a:avLst/>
          </a:prstGeom>
          <a:noFill/>
        </p:spPr>
        <p:txBody>
          <a:bodyPr wrap="square" lIns="0" rIns="0" tIns="0" bIns="0" anchor="ctr">
            <a:spAutoFit/>
          </a:bodyPr>
          <a:lstStyle/>
          <a:p>
            <a:pPr algn="ctr"/>
            <a:r>
              <a:rPr sz="2400" b="0" i="1">
                <a:solidFill>
                  <a:srgbClr val="555555"/>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