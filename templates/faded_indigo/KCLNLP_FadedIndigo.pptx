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5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7512" y="2468880"/>
            <a:ext cx="11112703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232730"/>
                </a:solidFill>
                <a:latin typeface="Calibri"/>
              </a:rPr>
              <a:t>Talk Title Goes 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" y="3657600"/>
            <a:ext cx="1111270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6E747F"/>
                </a:solidFill>
                <a:latin typeface="Calibri"/>
              </a:rPr>
              <a:t>A concise subtitle or one-line abstract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67512" y="4343399"/>
            <a:ext cx="1463040" cy="36576"/>
          </a:xfrm>
          <a:prstGeom prst="rect">
            <a:avLst/>
          </a:prstGeom>
          <a:solidFill>
            <a:srgbClr val="4F5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4526279"/>
            <a:ext cx="1111270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232730"/>
                </a:solidFill>
                <a:latin typeface="Calibri"/>
              </a:rPr>
              <a:t>Speaker Name  ·  Affiliation  ·  Month Year</a:t>
            </a:r>
          </a:p>
        </p:txBody>
      </p:sp>
      <p:pic>
        <p:nvPicPr>
          <p:cNvPr id="7" name="Picture 6" descr="KC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6258" y="6423660"/>
            <a:ext cx="655162" cy="411480"/>
          </a:xfrm>
          <a:prstGeom prst="rect">
            <a:avLst/>
          </a:prstGeom>
        </p:spPr>
      </p:pic>
      <p:pic>
        <p:nvPicPr>
          <p:cNvPr id="8" name="Picture 7" descr="KCLNL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6011" y="6423660"/>
            <a:ext cx="452782" cy="411480"/>
          </a:xfrm>
          <a:prstGeom prst="rect">
            <a:avLst/>
          </a:prstGeom>
        </p:spPr>
      </p:pic>
      <p:pic>
        <p:nvPicPr>
          <p:cNvPr id="9" name="Picture 8" descr="Al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3384" y="6423660"/>
            <a:ext cx="976831" cy="411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67512" y="6400800"/>
            <a:ext cx="851586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1">
                <a:solidFill>
                  <a:srgbClr val="6E747F"/>
                </a:solidFill>
                <a:latin typeface="Calibri"/>
              </a:rPr>
              <a:t>King's College London  ·  KCL NLP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5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64327" y="1554480"/>
            <a:ext cx="1463040" cy="36576"/>
          </a:xfrm>
          <a:prstGeom prst="rect">
            <a:avLst/>
          </a:prstGeom>
          <a:solidFill>
            <a:srgbClr val="4F5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74520"/>
            <a:ext cx="12191695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 i="0">
                <a:solidFill>
                  <a:srgbClr val="232730"/>
                </a:solidFill>
                <a:latin typeface="Calibri"/>
              </a:rPr>
              <a:t>Talk Title Goes 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246120"/>
            <a:ext cx="1219169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0" i="1">
                <a:solidFill>
                  <a:srgbClr val="6E747F"/>
                </a:solidFill>
                <a:latin typeface="Calibri"/>
              </a:rPr>
              <a:t>A concise subtitle or one-line abstract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160520"/>
            <a:ext cx="121916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 i="0">
                <a:solidFill>
                  <a:srgbClr val="232730"/>
                </a:solidFill>
                <a:latin typeface="Calibri"/>
              </a:rPr>
              <a:t>Speaker Name  ·  Affiliation  ·  Month Year</a:t>
            </a:r>
          </a:p>
        </p:txBody>
      </p:sp>
      <p:pic>
        <p:nvPicPr>
          <p:cNvPr id="7" name="Picture 6" descr="KC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6258" y="6423660"/>
            <a:ext cx="655162" cy="411480"/>
          </a:xfrm>
          <a:prstGeom prst="rect">
            <a:avLst/>
          </a:prstGeom>
        </p:spPr>
      </p:pic>
      <p:pic>
        <p:nvPicPr>
          <p:cNvPr id="8" name="Picture 7" descr="KCLNL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6011" y="6423660"/>
            <a:ext cx="452782" cy="411480"/>
          </a:xfrm>
          <a:prstGeom prst="rect">
            <a:avLst/>
          </a:prstGeom>
        </p:spPr>
      </p:pic>
      <p:pic>
        <p:nvPicPr>
          <p:cNvPr id="9" name="Picture 8" descr="Al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3384" y="6423660"/>
            <a:ext cx="976831" cy="411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67512" y="6400800"/>
            <a:ext cx="851586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1">
                <a:solidFill>
                  <a:srgbClr val="6E747F"/>
                </a:solidFill>
                <a:latin typeface="Calibri"/>
              </a:rPr>
              <a:t>King's College London  ·  KCL NLP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5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7512" y="2468880"/>
            <a:ext cx="1828800" cy="1463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200" b="1" i="0">
                <a:solidFill>
                  <a:srgbClr val="4F5E78"/>
                </a:solidFill>
                <a:latin typeface="Calibri"/>
              </a:rPr>
              <a:t>01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679192" y="2743200"/>
            <a:ext cx="0" cy="914400"/>
          </a:xfrm>
          <a:prstGeom prst="line">
            <a:avLst/>
          </a:prstGeom>
          <a:ln w="12700">
            <a:solidFill>
              <a:srgbClr val="4F5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953512" y="2468880"/>
            <a:ext cx="8229600" cy="1463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600" b="1" i="0">
                <a:solidFill>
                  <a:srgbClr val="232730"/>
                </a:solidFill>
                <a:latin typeface="Calibri"/>
              </a:rPr>
              <a:t>Background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53512" y="402336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1">
                <a:solidFill>
                  <a:srgbClr val="6E747F"/>
                </a:solidFill>
                <a:latin typeface="Calibri"/>
              </a:rPr>
              <a:t>An optional one-line summary of this section</a:t>
            </a:r>
          </a:p>
        </p:txBody>
      </p:sp>
      <p:pic>
        <p:nvPicPr>
          <p:cNvPr id="7" name="Picture 6" descr="KC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6258" y="6423660"/>
            <a:ext cx="655162" cy="411480"/>
          </a:xfrm>
          <a:prstGeom prst="rect">
            <a:avLst/>
          </a:prstGeom>
        </p:spPr>
      </p:pic>
      <p:pic>
        <p:nvPicPr>
          <p:cNvPr id="8" name="Picture 7" descr="KCLNL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6011" y="6423660"/>
            <a:ext cx="452782" cy="411480"/>
          </a:xfrm>
          <a:prstGeom prst="rect">
            <a:avLst/>
          </a:prstGeom>
        </p:spPr>
      </p:pic>
      <p:pic>
        <p:nvPicPr>
          <p:cNvPr id="9" name="Picture 8" descr="Al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3384" y="6423660"/>
            <a:ext cx="976831" cy="411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67512" y="6400800"/>
            <a:ext cx="851586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1">
                <a:solidFill>
                  <a:srgbClr val="6E747F"/>
                </a:solidFill>
                <a:latin typeface="Calibri"/>
              </a:rPr>
              <a:t>King's College London  ·  KCL NLP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5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7512" y="457200"/>
            <a:ext cx="1111270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232730"/>
                </a:solidFill>
                <a:latin typeface="Calibri"/>
              </a:rPr>
              <a:t>Slide title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67512" y="1051560"/>
            <a:ext cx="548640" cy="36576"/>
          </a:xfrm>
          <a:prstGeom prst="rect">
            <a:avLst/>
          </a:prstGeom>
          <a:solidFill>
            <a:srgbClr val="4F5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7512" y="1234440"/>
            <a:ext cx="11112703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>
                <a:solidFill>
                  <a:srgbClr val="232730"/>
                </a:solidFill>
                <a:latin typeface="Calibri"/>
              </a:rPr>
              <a:t>•  Lead with the main claim — what the reader should take away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232730"/>
                </a:solidFill>
                <a:latin typeface="Calibri"/>
              </a:rPr>
              <a:t>•  Supporting detail, ideally a number or concrete example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232730"/>
                </a:solidFill>
                <a:latin typeface="Calibri"/>
              </a:rPr>
              <a:t>•  A second supporting point that extends the first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232730"/>
                </a:solidFill>
                <a:latin typeface="Calibri"/>
              </a:rPr>
              <a:t>•  A fourth line of room — the body has the full slide to breathe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232730"/>
                </a:solidFill>
                <a:latin typeface="Calibri"/>
              </a:rPr>
              <a:t>•  Edge case, caveat, or the one thing not to forget</a:t>
            </a:r>
          </a:p>
        </p:txBody>
      </p:sp>
      <p:pic>
        <p:nvPicPr>
          <p:cNvPr id="6" name="Picture 5" descr="KC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6258" y="6423660"/>
            <a:ext cx="655162" cy="411480"/>
          </a:xfrm>
          <a:prstGeom prst="rect">
            <a:avLst/>
          </a:prstGeom>
        </p:spPr>
      </p:pic>
      <p:pic>
        <p:nvPicPr>
          <p:cNvPr id="7" name="Picture 6" descr="KCLNL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6011" y="6423660"/>
            <a:ext cx="452782" cy="411480"/>
          </a:xfrm>
          <a:prstGeom prst="rect">
            <a:avLst/>
          </a:prstGeom>
        </p:spPr>
      </p:pic>
      <p:pic>
        <p:nvPicPr>
          <p:cNvPr id="8" name="Picture 7" descr="Al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3384" y="6423660"/>
            <a:ext cx="976831" cy="4114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67512" y="6400800"/>
            <a:ext cx="851586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1">
                <a:solidFill>
                  <a:srgbClr val="6E747F"/>
                </a:solidFill>
                <a:latin typeface="Calibri"/>
              </a:rPr>
              <a:t>King's College London  ·  KCL NLP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5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7512" y="457200"/>
            <a:ext cx="1111270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232730"/>
                </a:solidFill>
                <a:latin typeface="Calibri"/>
              </a:rPr>
              <a:t>Headline finding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67512" y="1051560"/>
            <a:ext cx="548640" cy="36576"/>
          </a:xfrm>
          <a:prstGeom prst="rect">
            <a:avLst/>
          </a:prstGeom>
          <a:solidFill>
            <a:srgbClr val="4F5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7512" y="1234440"/>
            <a:ext cx="11112703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>
                <a:solidFill>
                  <a:srgbClr val="232730"/>
                </a:solidFill>
                <a:latin typeface="Calibri"/>
              </a:rPr>
              <a:t>•  Set up the experimental finding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232730"/>
                </a:solidFill>
                <a:latin typeface="Calibri"/>
              </a:rPr>
              <a:t>•  Note the comparison or baseline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232730"/>
                </a:solidFill>
                <a:latin typeface="Calibri"/>
              </a:rPr>
              <a:t>•  Quantify the effect with one or two numbers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667512" y="3977640"/>
            <a:ext cx="11112703" cy="1097280"/>
          </a:xfrm>
          <a:prstGeom prst="rect">
            <a:avLst/>
          </a:prstGeom>
          <a:solidFill>
            <a:srgbClr val="E5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67512" y="3977640"/>
            <a:ext cx="73152" cy="1097280"/>
          </a:xfrm>
          <a:prstGeom prst="rect">
            <a:avLst/>
          </a:prstGeom>
          <a:solidFill>
            <a:srgbClr val="4F5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4142232"/>
            <a:ext cx="107469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4F5E78"/>
                </a:solidFill>
                <a:latin typeface="Calibri"/>
              </a:rPr>
              <a:t>TAKEAWAY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4434840"/>
            <a:ext cx="1074694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232730"/>
                </a:solidFill>
                <a:latin typeface="Calibri"/>
              </a:rPr>
              <a:t>Across 5 benchmarks, our 1.3B model matches a 7B baseline at 18% of the inference cost.</a:t>
            </a:r>
          </a:p>
        </p:txBody>
      </p:sp>
      <p:pic>
        <p:nvPicPr>
          <p:cNvPr id="10" name="Picture 9" descr="KC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6258" y="6423660"/>
            <a:ext cx="655162" cy="411480"/>
          </a:xfrm>
          <a:prstGeom prst="rect">
            <a:avLst/>
          </a:prstGeom>
        </p:spPr>
      </p:pic>
      <p:pic>
        <p:nvPicPr>
          <p:cNvPr id="11" name="Picture 10" descr="KCLNL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6011" y="6423660"/>
            <a:ext cx="452782" cy="411480"/>
          </a:xfrm>
          <a:prstGeom prst="rect">
            <a:avLst/>
          </a:prstGeom>
        </p:spPr>
      </p:pic>
      <p:pic>
        <p:nvPicPr>
          <p:cNvPr id="12" name="Picture 11" descr="Al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3384" y="6423660"/>
            <a:ext cx="976831" cy="4114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67512" y="6400800"/>
            <a:ext cx="851586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1">
                <a:solidFill>
                  <a:srgbClr val="6E747F"/>
                </a:solidFill>
                <a:latin typeface="Calibri"/>
              </a:rPr>
              <a:t>King's College London  ·  KCL NLP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5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7512" y="457200"/>
            <a:ext cx="1111270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232730"/>
                </a:solidFill>
                <a:latin typeface="Calibri"/>
              </a:rPr>
              <a:t>Three contributions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67512" y="1051560"/>
            <a:ext cx="548640" cy="36576"/>
          </a:xfrm>
          <a:prstGeom prst="rect">
            <a:avLst/>
          </a:prstGeom>
          <a:solidFill>
            <a:srgbClr val="4F5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7512" y="1371600"/>
            <a:ext cx="8229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4F5E78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27632" y="1371600"/>
            <a:ext cx="10152583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 i="0">
                <a:solidFill>
                  <a:srgbClr val="232730"/>
                </a:solidFill>
                <a:latin typeface="Calibri"/>
              </a:rPr>
              <a:t>Lead with the main claim worth remembering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67512" y="2148840"/>
            <a:ext cx="11112703" cy="0"/>
          </a:xfrm>
          <a:prstGeom prst="line">
            <a:avLst/>
          </a:prstGeom>
          <a:ln w="6350">
            <a:solidFill>
              <a:srgbClr val="A0AA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67512" y="2148840"/>
            <a:ext cx="8229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4F5E78"/>
                </a:solidFill>
                <a:latin typeface="Calibri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27632" y="2148840"/>
            <a:ext cx="10152583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 i="0">
                <a:solidFill>
                  <a:srgbClr val="232730"/>
                </a:solidFill>
                <a:latin typeface="Calibri"/>
              </a:rPr>
              <a:t>Supporting detail, a number or concrete example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67512" y="2926080"/>
            <a:ext cx="11112703" cy="0"/>
          </a:xfrm>
          <a:prstGeom prst="line">
            <a:avLst/>
          </a:prstGeom>
          <a:ln w="6350">
            <a:solidFill>
              <a:srgbClr val="A0AA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67512" y="2926080"/>
            <a:ext cx="8229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4F5E78"/>
                </a:solidFill>
                <a:latin typeface="Calibri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27632" y="2926080"/>
            <a:ext cx="10152583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 i="0">
                <a:solidFill>
                  <a:srgbClr val="232730"/>
                </a:solidFill>
                <a:latin typeface="Calibri"/>
              </a:rPr>
              <a:t>A second supporting point that extends the first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67512" y="3703320"/>
            <a:ext cx="11112703" cy="0"/>
          </a:xfrm>
          <a:prstGeom prst="line">
            <a:avLst/>
          </a:prstGeom>
          <a:ln w="6350">
            <a:solidFill>
              <a:srgbClr val="A0AA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Picture 13" descr="KC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6258" y="6423660"/>
            <a:ext cx="655162" cy="411480"/>
          </a:xfrm>
          <a:prstGeom prst="rect">
            <a:avLst/>
          </a:prstGeom>
        </p:spPr>
      </p:pic>
      <p:pic>
        <p:nvPicPr>
          <p:cNvPr id="15" name="Picture 14" descr="KCLNL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6011" y="6423660"/>
            <a:ext cx="452782" cy="411480"/>
          </a:xfrm>
          <a:prstGeom prst="rect">
            <a:avLst/>
          </a:prstGeom>
        </p:spPr>
      </p:pic>
      <p:pic>
        <p:nvPicPr>
          <p:cNvPr id="16" name="Picture 15" descr="Al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3384" y="6423660"/>
            <a:ext cx="976831" cy="41148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67512" y="6400800"/>
            <a:ext cx="851586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1">
                <a:solidFill>
                  <a:srgbClr val="6E747F"/>
                </a:solidFill>
                <a:latin typeface="Calibri"/>
              </a:rPr>
              <a:t>King's College London  ·  KCL NLP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5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7512" y="457200"/>
            <a:ext cx="1111270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232730"/>
                </a:solidFill>
                <a:latin typeface="Calibri"/>
              </a:rPr>
              <a:t>Result</a:t>
            </a:r>
          </a:p>
        </p:txBody>
      </p:sp>
      <p:sp>
        <p:nvSpPr>
          <p:cNvPr id="4" name="Rectangle 3"/>
          <p:cNvSpPr/>
          <p:nvPr/>
        </p:nvSpPr>
        <p:spPr>
          <a:xfrm>
            <a:off x="667512" y="1051560"/>
            <a:ext cx="548640" cy="36576"/>
          </a:xfrm>
          <a:prstGeom prst="rect">
            <a:avLst/>
          </a:prstGeom>
          <a:solidFill>
            <a:srgbClr val="4F5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67512" y="1234440"/>
            <a:ext cx="5350611" cy="4983480"/>
          </a:xfrm>
          <a:prstGeom prst="rect">
            <a:avLst/>
          </a:prstGeom>
          <a:noFill/>
          <a:ln w="6350">
            <a:solidFill>
              <a:srgbClr val="A0A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4440"/>
            <a:ext cx="5350611" cy="4983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 i="1">
                <a:solidFill>
                  <a:srgbClr val="6E747F"/>
                </a:solidFill>
                <a:latin typeface="Calibri"/>
              </a:rPr>
              <a:t>[ figure / diagram 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29603" y="1234440"/>
            <a:ext cx="535061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232730"/>
                </a:solidFill>
                <a:latin typeface="Calibri"/>
              </a:rPr>
              <a:t>Caption or claim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29603" y="1965960"/>
            <a:ext cx="5350611" cy="4251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>
                <a:solidFill>
                  <a:srgbClr val="232730"/>
                </a:solidFill>
                <a:latin typeface="Calibri"/>
              </a:rPr>
              <a:t>•  Explain what the figure shows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232730"/>
                </a:solidFill>
                <a:latin typeface="Calibri"/>
              </a:rPr>
              <a:t>•  Call out the one feature worth noting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232730"/>
                </a:solidFill>
                <a:latin typeface="Calibri"/>
              </a:rPr>
              <a:t>•  Relate it back to the slide's main point</a:t>
            </a:r>
          </a:p>
        </p:txBody>
      </p:sp>
      <p:pic>
        <p:nvPicPr>
          <p:cNvPr id="9" name="Picture 8" descr="KC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6258" y="6423660"/>
            <a:ext cx="655162" cy="411480"/>
          </a:xfrm>
          <a:prstGeom prst="rect">
            <a:avLst/>
          </a:prstGeom>
        </p:spPr>
      </p:pic>
      <p:pic>
        <p:nvPicPr>
          <p:cNvPr id="10" name="Picture 9" descr="KCLNL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6011" y="6423660"/>
            <a:ext cx="452782" cy="411480"/>
          </a:xfrm>
          <a:prstGeom prst="rect">
            <a:avLst/>
          </a:prstGeom>
        </p:spPr>
      </p:pic>
      <p:pic>
        <p:nvPicPr>
          <p:cNvPr id="11" name="Picture 10" descr="Al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3384" y="6423660"/>
            <a:ext cx="976831" cy="4114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67512" y="6400800"/>
            <a:ext cx="851586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1">
                <a:solidFill>
                  <a:srgbClr val="6E747F"/>
                </a:solidFill>
                <a:latin typeface="Calibri"/>
              </a:rPr>
              <a:t>King's College London  ·  KCL NLP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5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7512" y="1280160"/>
            <a:ext cx="14630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1" i="0">
                <a:solidFill>
                  <a:srgbClr val="A0AAB8"/>
                </a:solidFill>
                <a:latin typeface="Georgia"/>
              </a:rPr>
              <a:t>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2468880"/>
            <a:ext cx="11021263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0" i="1">
                <a:solidFill>
                  <a:srgbClr val="232730"/>
                </a:solidFill>
                <a:latin typeface="Georgia"/>
              </a:rPr>
              <a:t>Smaller models, trained on the right data, beat larger ones.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58952" y="4754880"/>
            <a:ext cx="457200" cy="36576"/>
          </a:xfrm>
          <a:prstGeom prst="rect">
            <a:avLst/>
          </a:prstGeom>
          <a:solidFill>
            <a:srgbClr val="4F5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4892040"/>
            <a:ext cx="1102126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4F5E78"/>
                </a:solidFill>
                <a:latin typeface="Calibri"/>
              </a:rPr>
              <a:t>MAIN RESULT</a:t>
            </a:r>
          </a:p>
        </p:txBody>
      </p:sp>
      <p:pic>
        <p:nvPicPr>
          <p:cNvPr id="7" name="Picture 6" descr="KC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6258" y="6423660"/>
            <a:ext cx="655162" cy="411480"/>
          </a:xfrm>
          <a:prstGeom prst="rect">
            <a:avLst/>
          </a:prstGeom>
        </p:spPr>
      </p:pic>
      <p:pic>
        <p:nvPicPr>
          <p:cNvPr id="8" name="Picture 7" descr="KCLNL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6011" y="6423660"/>
            <a:ext cx="452782" cy="411480"/>
          </a:xfrm>
          <a:prstGeom prst="rect">
            <a:avLst/>
          </a:prstGeom>
        </p:spPr>
      </p:pic>
      <p:pic>
        <p:nvPicPr>
          <p:cNvPr id="9" name="Picture 8" descr="Al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3384" y="6423660"/>
            <a:ext cx="976831" cy="411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67512" y="6400800"/>
            <a:ext cx="851586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1">
                <a:solidFill>
                  <a:srgbClr val="6E747F"/>
                </a:solidFill>
                <a:latin typeface="Calibri"/>
              </a:rPr>
              <a:t>King's College London  ·  KCL NLP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5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272887" y="1645920"/>
            <a:ext cx="1645920" cy="36576"/>
          </a:xfrm>
          <a:prstGeom prst="rect">
            <a:avLst/>
          </a:prstGeom>
          <a:solidFill>
            <a:srgbClr val="4F5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965960"/>
            <a:ext cx="12191695" cy="1463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600" b="1" i="0">
                <a:solidFill>
                  <a:srgbClr val="232730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566160"/>
            <a:ext cx="12191695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0" i="1">
                <a:solidFill>
                  <a:srgbClr val="6E747F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251960"/>
            <a:ext cx="1219169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 i="0">
                <a:solidFill>
                  <a:srgbClr val="232730"/>
                </a:solidFill>
                <a:latin typeface="Calibri"/>
              </a:rPr>
              <a:t>speaker@kcl.ac.uk  ·  kclnlp.github.io</a:t>
            </a:r>
          </a:p>
        </p:txBody>
      </p:sp>
      <p:pic>
        <p:nvPicPr>
          <p:cNvPr id="7" name="Picture 6" descr="KC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6258" y="6423660"/>
            <a:ext cx="655162" cy="411480"/>
          </a:xfrm>
          <a:prstGeom prst="rect">
            <a:avLst/>
          </a:prstGeom>
        </p:spPr>
      </p:pic>
      <p:pic>
        <p:nvPicPr>
          <p:cNvPr id="8" name="Picture 7" descr="KCLNL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6011" y="6423660"/>
            <a:ext cx="452782" cy="411480"/>
          </a:xfrm>
          <a:prstGeom prst="rect">
            <a:avLst/>
          </a:prstGeom>
        </p:spPr>
      </p:pic>
      <p:pic>
        <p:nvPicPr>
          <p:cNvPr id="9" name="Picture 8" descr="Al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3384" y="6423660"/>
            <a:ext cx="976831" cy="411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67512" y="6400800"/>
            <a:ext cx="851586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1">
                <a:solidFill>
                  <a:srgbClr val="6E747F"/>
                </a:solidFill>
                <a:latin typeface="Calibri"/>
              </a:rPr>
              <a:t>King's College London  ·  KCL NLP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